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259" r:id="rId3"/>
    <p:sldId id="280" r:id="rId4"/>
    <p:sldId id="281" r:id="rId5"/>
    <p:sldId id="282" r:id="rId6"/>
    <p:sldId id="283" r:id="rId7"/>
    <p:sldId id="284" r:id="rId8"/>
    <p:sldId id="285" r:id="rId9"/>
    <p:sldId id="286" r:id="rId10"/>
    <p:sldId id="287" r:id="rId11"/>
    <p:sldId id="288" r:id="rId12"/>
    <p:sldId id="305" r:id="rId13"/>
    <p:sldId id="289" r:id="rId14"/>
    <p:sldId id="306" r:id="rId15"/>
    <p:sldId id="290" r:id="rId16"/>
    <p:sldId id="307" r:id="rId17"/>
    <p:sldId id="291" r:id="rId18"/>
    <p:sldId id="308" r:id="rId19"/>
    <p:sldId id="292" r:id="rId20"/>
    <p:sldId id="309" r:id="rId21"/>
    <p:sldId id="293" r:id="rId22"/>
    <p:sldId id="294" r:id="rId23"/>
    <p:sldId id="295" r:id="rId24"/>
    <p:sldId id="310" r:id="rId25"/>
    <p:sldId id="296" r:id="rId26"/>
    <p:sldId id="311" r:id="rId27"/>
    <p:sldId id="297" r:id="rId28"/>
    <p:sldId id="312" r:id="rId29"/>
    <p:sldId id="314" r:id="rId30"/>
    <p:sldId id="300" r:id="rId31"/>
    <p:sldId id="313" r:id="rId32"/>
    <p:sldId id="301" r:id="rId33"/>
    <p:sldId id="318" r:id="rId34"/>
    <p:sldId id="302" r:id="rId35"/>
    <p:sldId id="317" r:id="rId36"/>
    <p:sldId id="303" r:id="rId37"/>
    <p:sldId id="315" r:id="rId38"/>
    <p:sldId id="319" r:id="rId39"/>
    <p:sldId id="320" r:id="rId40"/>
    <p:sldId id="321"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4" userDrawn="1">
          <p15:clr>
            <a:srgbClr val="A4A3A4"/>
          </p15:clr>
        </p15:guide>
        <p15:guide id="2" pos="379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14"/>
        <p:guide pos="379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notesMaster" Target="notesMasters/notesMaster1.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rcRect b="3795"/>
          <a:stretch>
            <a:fillRect/>
          </a:stretch>
        </p:blipFill>
        <p:spPr>
          <a:xfrm>
            <a:off x="0" y="260350"/>
            <a:ext cx="12192000" cy="6597650"/>
          </a:xfrm>
          <a:prstGeom prst="rect">
            <a:avLst/>
          </a:prstGeom>
          <a:noFill/>
          <a:ln w="9525">
            <a:noFill/>
          </a:ln>
        </p:spPr>
      </p:pic>
      <p:sp>
        <p:nvSpPr>
          <p:cNvPr id="2051" name="Rectangle 3"/>
          <p:cNvSpPr>
            <a:spLocks noGrp="1" noChangeArrowheads="1"/>
          </p:cNvSpPr>
          <p:nvPr>
            <p:ph type="ctrTitle"/>
          </p:nvPr>
        </p:nvSpPr>
        <p:spPr>
          <a:xfrm>
            <a:off x="624417" y="620713"/>
            <a:ext cx="10943167" cy="1082675"/>
          </a:xfrm>
        </p:spPr>
        <p:txBody>
          <a:bodyPr/>
          <a:lstStyle>
            <a:lvl1pP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1843088"/>
            <a:ext cx="10949517" cy="981075"/>
          </a:xfrm>
        </p:spPr>
        <p:txBody>
          <a:bodyPr/>
          <a:lstStyle>
            <a:lvl1pPr marL="0" indent="0">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2"/>
          <p:cNvPicPr>
            <a:picLocks noChangeAspect="1"/>
          </p:cNvPicPr>
          <p:nvPr/>
        </p:nvPicPr>
        <p:blipFill>
          <a:blip r:embed="rId12"/>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noChangeArrowheads="1"/>
          </p:cNvSpPr>
          <p:nvPr>
            <p:ph type="ctrTitle"/>
          </p:nvPr>
        </p:nvSpPr>
        <p:spPr>
          <a:xfrm>
            <a:off x="633095" y="704850"/>
            <a:ext cx="10942955" cy="2904490"/>
          </a:xfrm>
        </p:spPr>
        <p:txBody>
          <a:bodyPr/>
          <a:p>
            <a:pPr algn="ctr"/>
            <a:r>
              <a:rPr lang="en-IN" altLang="en-US" sz="5400" b="1">
                <a:solidFill>
                  <a:schemeClr val="tx1"/>
                </a:solidFill>
                <a:effectLst>
                  <a:outerShdw blurRad="38100" dist="19050" dir="2700000" algn="tl" rotWithShape="0">
                    <a:schemeClr val="dk1">
                      <a:alpha val="40000"/>
                    </a:schemeClr>
                  </a:outerShdw>
                </a:effectLst>
                <a:latin typeface="Calibri" panose="020F0502020204030204" charset="0"/>
                <a:cs typeface="Calibri" panose="020F0502020204030204" charset="0"/>
              </a:rPr>
              <a:t>Salaries for San Francisco Employees</a:t>
            </a:r>
            <a:endParaRPr lang="en-IN" altLang="en-US" sz="5400" b="1">
              <a:solidFill>
                <a:schemeClr val="tx1"/>
              </a:solidFill>
              <a:effectLst>
                <a:outerShdw blurRad="38100" dist="19050" dir="2700000" algn="tl" rotWithShape="0">
                  <a:schemeClr val="dk1">
                    <a:alpha val="40000"/>
                  </a:schemeClr>
                </a:outerShdw>
              </a:effectLst>
              <a:latin typeface="Calibri" panose="020F0502020204030204" charset="0"/>
              <a:cs typeface="Calibri" panose="020F0502020204030204" charset="0"/>
            </a:endParaRPr>
          </a:p>
        </p:txBody>
      </p:sp>
      <p:sp>
        <p:nvSpPr>
          <p:cNvPr id="3" name="Subtitle 2"/>
          <p:cNvSpPr>
            <a:spLocks noGrp="1" noChangeArrowheads="1"/>
          </p:cNvSpPr>
          <p:nvPr>
            <p:ph type="subTitle" idx="1"/>
          </p:nvPr>
        </p:nvSpPr>
        <p:spPr>
          <a:xfrm>
            <a:off x="633095" y="4540250"/>
            <a:ext cx="10949305" cy="1664970"/>
          </a:xfrm>
        </p:spPr>
        <p:txBody>
          <a:bodyPr/>
          <a:p>
            <a:pPr marL="457200" indent="-457200">
              <a:buFont typeface="Wingdings" panose="05000000000000000000" charset="0"/>
              <a:buChar char="ü"/>
            </a:pPr>
            <a:r>
              <a:rPr lang="en-IN" altLang="en-US" sz="2800" b="1"/>
              <a:t>Domain:</a:t>
            </a:r>
            <a:r>
              <a:rPr lang="en-IN" altLang="en-US" sz="2800"/>
              <a:t> Finance Analyst</a:t>
            </a:r>
            <a:endParaRPr lang="en-IN" altLang="en-US" sz="2800"/>
          </a:p>
          <a:p>
            <a:pPr marL="457200" indent="-457200">
              <a:buFont typeface="Wingdings" panose="05000000000000000000" charset="0"/>
              <a:buChar char="ü"/>
            </a:pPr>
            <a:r>
              <a:rPr lang="en-IN" altLang="en-US" sz="2800" b="1"/>
              <a:t>Tools Used:</a:t>
            </a:r>
            <a:r>
              <a:rPr lang="en-IN" altLang="en-US" sz="2800"/>
              <a:t> Python, Pandas, Matplotlib, Seaborn, Scikit-learn</a:t>
            </a:r>
            <a:endParaRPr lang="en-IN" altLang="en-US" sz="2800"/>
          </a:p>
          <a:p>
            <a:pPr>
              <a:buFont typeface="Wingdings" panose="05000000000000000000" charset="0"/>
            </a:pPr>
            <a:r>
              <a:rPr lang="en-IN" altLang="en-US" sz="2800"/>
              <a:t>                                              </a:t>
            </a:r>
            <a:endParaRPr lang="en-IN" altLang="en-US" sz="2800"/>
          </a:p>
          <a:p>
            <a:pPr>
              <a:buFont typeface="Wingdings" panose="05000000000000000000" charset="0"/>
            </a:pPr>
            <a:r>
              <a:rPr lang="en-IN" altLang="en-US" sz="2800"/>
              <a:t>                                                                             </a:t>
            </a:r>
            <a:r>
              <a:rPr lang="en-IN" altLang="en-US" sz="2800" b="1"/>
              <a:t>  </a:t>
            </a:r>
            <a:r>
              <a:rPr lang="en-IN" altLang="en-US" sz="2400" b="1"/>
              <a:t>Name:</a:t>
            </a:r>
            <a:r>
              <a:rPr lang="en-IN" altLang="en-US" sz="2400"/>
              <a:t> K.Sathvika</a:t>
            </a:r>
            <a:endParaRPr lang="en-IN" altLang="en-US" sz="2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05840" y="845820"/>
            <a:ext cx="10644505" cy="582930"/>
          </a:xfrm>
        </p:spPr>
        <p:txBody>
          <a:bodyPr/>
          <a:p>
            <a:r>
              <a:rPr lang="en-IN" altLang="en-US" sz="4000">
                <a:latin typeface="Calibri" panose="020F0502020204030204" charset="0"/>
                <a:cs typeface="Calibri" panose="020F0502020204030204" charset="0"/>
              </a:rPr>
              <a:t>Introduction</a:t>
            </a:r>
            <a:endParaRPr lang="en-IN" altLang="en-US" sz="4000">
              <a:latin typeface="Calibri" panose="020F0502020204030204" charset="0"/>
              <a:cs typeface="Calibri" panose="020F0502020204030204" charset="0"/>
            </a:endParaRPr>
          </a:p>
        </p:txBody>
      </p:sp>
      <p:sp>
        <p:nvSpPr>
          <p:cNvPr id="3" name="Content Placeholder 2"/>
          <p:cNvSpPr>
            <a:spLocks noGrp="1"/>
          </p:cNvSpPr>
          <p:nvPr>
            <p:ph idx="1"/>
          </p:nvPr>
        </p:nvSpPr>
        <p:spPr>
          <a:xfrm>
            <a:off x="1005205" y="1791970"/>
            <a:ext cx="10713085" cy="4953000"/>
          </a:xfrm>
        </p:spPr>
        <p:txBody>
          <a:bodyPr/>
          <a:p>
            <a:pPr>
              <a:buFont typeface="Arial" panose="020B0604020202020204" pitchFamily="34" charset="0"/>
              <a:buChar char="•"/>
            </a:pPr>
            <a:r>
              <a:rPr lang="en-US" altLang="en-US" sz="2800">
                <a:latin typeface="Calibri" panose="020F0502020204030204" charset="0"/>
                <a:cs typeface="Calibri" panose="020F0502020204030204" charset="0"/>
              </a:rPr>
              <a:t>This project focuses on analyzing salary data of San Francisco city employees. The dataset contains detailed information about employee compensation, including base pay, overtime pay, other pay, and benefits. The analysis aims to understand salary patterns, trends, and variations across different job roles and years, using data analytics and visualization techniques.</a:t>
            </a:r>
            <a:endParaRPr lang="en-US" altLang="en-US" sz="2800">
              <a:latin typeface="Calibri" panose="020F0502020204030204" charset="0"/>
              <a:cs typeface="Calibri" panose="020F050202020403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18210" y="450850"/>
            <a:ext cx="10664190" cy="582930"/>
          </a:xfrm>
        </p:spPr>
        <p:txBody>
          <a:bodyPr/>
          <a:p>
            <a:r>
              <a:rPr lang="en-IN" altLang="en-US" sz="4000">
                <a:latin typeface="Calibri" panose="020F0502020204030204" charset="0"/>
                <a:cs typeface="Calibri" panose="020F0502020204030204" charset="0"/>
              </a:rPr>
              <a:t>Objective</a:t>
            </a:r>
            <a:endParaRPr lang="en-IN" altLang="en-US" sz="4000">
              <a:latin typeface="Calibri" panose="020F0502020204030204" charset="0"/>
              <a:cs typeface="Calibri" panose="020F0502020204030204" charset="0"/>
            </a:endParaRPr>
          </a:p>
        </p:txBody>
      </p:sp>
      <p:sp>
        <p:nvSpPr>
          <p:cNvPr id="3" name="Content Placeholder 2"/>
          <p:cNvSpPr>
            <a:spLocks noGrp="1"/>
          </p:cNvSpPr>
          <p:nvPr>
            <p:ph idx="1"/>
          </p:nvPr>
        </p:nvSpPr>
        <p:spPr>
          <a:xfrm>
            <a:off x="918210" y="1300480"/>
            <a:ext cx="10664190" cy="5126355"/>
          </a:xfrm>
        </p:spPr>
        <p:txBody>
          <a:bodyPr/>
          <a:p>
            <a:pPr>
              <a:buFont typeface="Arial" panose="020B0604020202020204" pitchFamily="34" charset="0"/>
              <a:buChar char="•"/>
            </a:pPr>
            <a:r>
              <a:rPr lang="en-US" altLang="en-US" sz="2800">
                <a:latin typeface="Calibri" panose="020F0502020204030204" charset="0"/>
                <a:cs typeface="Calibri" panose="020F0502020204030204" charset="0"/>
              </a:rPr>
              <a:t>The main objective of this project is to analyze the salary structure of San Francisco city employees by examining different salary components such as BasePay, OvertimePay, OtherPay, and Benefits. The project also aims to identify salary trends across job roles and years and to build a machine learning model to predict employee salaries</a:t>
            </a:r>
            <a:r>
              <a:rPr lang="en-IN" altLang="en-US" sz="2800">
                <a:latin typeface="Calibri" panose="020F0502020204030204" charset="0"/>
                <a:cs typeface="Calibri" panose="020F0502020204030204" charset="0"/>
              </a:rPr>
              <a:t>.</a:t>
            </a:r>
            <a:endParaRPr lang="en-US" altLang="en-US"/>
          </a:p>
          <a:p>
            <a:pPr>
              <a:buFont typeface="Arial" panose="020B0604020202020204" pitchFamily="34" charset="0"/>
              <a:buChar char="•"/>
            </a:pPr>
            <a:r>
              <a:rPr lang="en-US" altLang="en-US" sz="2800">
                <a:latin typeface="Calibri" panose="020F0502020204030204" charset="0"/>
                <a:cs typeface="Calibri" panose="020F0502020204030204" charset="0"/>
              </a:rPr>
              <a:t>Analyze salary distribution and patterns</a:t>
            </a:r>
            <a:endParaRPr lang="en-US" altLang="en-US" sz="2800">
              <a:latin typeface="Calibri" panose="020F0502020204030204" charset="0"/>
              <a:cs typeface="Calibri" panose="020F0502020204030204" charset="0"/>
            </a:endParaRPr>
          </a:p>
          <a:p>
            <a:pPr>
              <a:buFont typeface="Arial" panose="020B0604020202020204" pitchFamily="34" charset="0"/>
              <a:buChar char="•"/>
            </a:pPr>
            <a:r>
              <a:rPr lang="en-US" altLang="en-US" sz="2800">
                <a:latin typeface="Calibri" panose="020F0502020204030204" charset="0"/>
                <a:cs typeface="Calibri" panose="020F0502020204030204" charset="0"/>
              </a:rPr>
              <a:t>Compare compensation across job roles</a:t>
            </a:r>
            <a:endParaRPr lang="en-US" altLang="en-US" sz="2800">
              <a:latin typeface="Calibri" panose="020F0502020204030204" charset="0"/>
              <a:cs typeface="Calibri" panose="020F0502020204030204" charset="0"/>
            </a:endParaRPr>
          </a:p>
          <a:p>
            <a:pPr>
              <a:buFont typeface="Arial" panose="020B0604020202020204" pitchFamily="34" charset="0"/>
              <a:buChar char="•"/>
            </a:pPr>
            <a:r>
              <a:rPr lang="en-US" altLang="en-US" sz="2800">
                <a:latin typeface="Calibri" panose="020F0502020204030204" charset="0"/>
                <a:cs typeface="Calibri" panose="020F0502020204030204" charset="0"/>
              </a:rPr>
              <a:t>Study salary trends over different years</a:t>
            </a:r>
            <a:endParaRPr lang="en-US" altLang="en-US" sz="2800">
              <a:latin typeface="Calibri" panose="020F0502020204030204" charset="0"/>
              <a:cs typeface="Calibri" panose="020F0502020204030204" charset="0"/>
            </a:endParaRPr>
          </a:p>
          <a:p>
            <a:pPr>
              <a:buFont typeface="Arial" panose="020B0604020202020204" pitchFamily="34" charset="0"/>
              <a:buChar char="•"/>
            </a:pPr>
            <a:r>
              <a:rPr lang="en-US" altLang="en-US" sz="2800">
                <a:latin typeface="Calibri" panose="020F0502020204030204" charset="0"/>
                <a:cs typeface="Calibri" panose="020F0502020204030204" charset="0"/>
              </a:rPr>
              <a:t>Predict employee salaries using machine</a:t>
            </a:r>
            <a:r>
              <a:rPr lang="en-IN" altLang="en-US" sz="2800">
                <a:latin typeface="Calibri" panose="020F0502020204030204" charset="0"/>
                <a:cs typeface="Calibri" panose="020F0502020204030204" charset="0"/>
              </a:rPr>
              <a:t> learning</a:t>
            </a:r>
            <a:endParaRPr lang="en-IN" altLang="en-US" sz="2800">
              <a:latin typeface="Calibri" panose="020F0502020204030204" charset="0"/>
              <a:cs typeface="Calibri" panose="020F050202020403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27735" y="653415"/>
            <a:ext cx="10654665" cy="582930"/>
          </a:xfrm>
        </p:spPr>
        <p:txBody>
          <a:bodyPr/>
          <a:p>
            <a:r>
              <a:rPr lang="en-IN" altLang="en-US" sz="4000">
                <a:latin typeface="Calibri" panose="020F0502020204030204" charset="0"/>
                <a:cs typeface="Calibri" panose="020F0502020204030204" charset="0"/>
              </a:rPr>
              <a:t>Tools Used</a:t>
            </a:r>
            <a:endParaRPr lang="en-IN" altLang="en-US" sz="4000">
              <a:latin typeface="Calibri" panose="020F0502020204030204" charset="0"/>
              <a:cs typeface="Calibri" panose="020F0502020204030204" charset="0"/>
            </a:endParaRPr>
          </a:p>
        </p:txBody>
      </p:sp>
      <p:sp>
        <p:nvSpPr>
          <p:cNvPr id="3" name="Content Placeholder 2"/>
          <p:cNvSpPr>
            <a:spLocks noGrp="1"/>
          </p:cNvSpPr>
          <p:nvPr>
            <p:ph idx="1"/>
          </p:nvPr>
        </p:nvSpPr>
        <p:spPr>
          <a:xfrm>
            <a:off x="927735" y="1617980"/>
            <a:ext cx="10654665" cy="4953000"/>
          </a:xfrm>
        </p:spPr>
        <p:txBody>
          <a:bodyPr/>
          <a:p>
            <a:pPr>
              <a:buFont typeface="Arial" panose="020B0604020202020204" pitchFamily="34" charset="0"/>
              <a:buChar char="•"/>
            </a:pPr>
            <a:r>
              <a:rPr lang="en-US" altLang="en-US" sz="2800" b="1">
                <a:latin typeface="Calibri" panose="020F0502020204030204" charset="0"/>
                <a:cs typeface="Calibri" panose="020F0502020204030204" charset="0"/>
              </a:rPr>
              <a:t>Pytho</a:t>
            </a:r>
            <a:r>
              <a:rPr lang="en-IN" altLang="en-US" sz="2800" b="1">
                <a:latin typeface="Calibri" panose="020F0502020204030204" charset="0"/>
                <a:cs typeface="Calibri" panose="020F0502020204030204" charset="0"/>
              </a:rPr>
              <a:t>n:</a:t>
            </a:r>
            <a:r>
              <a:rPr lang="en-IN" altLang="en-US" sz="2800">
                <a:latin typeface="Calibri" panose="020F0502020204030204" charset="0"/>
                <a:cs typeface="Calibri" panose="020F0502020204030204" charset="0"/>
              </a:rPr>
              <a:t> </a:t>
            </a:r>
            <a:r>
              <a:rPr lang="en-US" altLang="en-US" sz="2800">
                <a:latin typeface="Calibri" panose="020F0502020204030204" charset="0"/>
                <a:cs typeface="Calibri" panose="020F0502020204030204" charset="0"/>
              </a:rPr>
              <a:t>Used as the main programming language for analysis</a:t>
            </a:r>
            <a:endParaRPr lang="en-US" altLang="en-US" sz="2800">
              <a:latin typeface="Calibri" panose="020F0502020204030204" charset="0"/>
              <a:cs typeface="Calibri" panose="020F0502020204030204" charset="0"/>
            </a:endParaRPr>
          </a:p>
          <a:p>
            <a:pPr>
              <a:buFont typeface="Arial" panose="020B0604020202020204" pitchFamily="34" charset="0"/>
              <a:buChar char="•"/>
            </a:pPr>
            <a:r>
              <a:rPr lang="en-US" altLang="en-US" sz="2800" b="1">
                <a:latin typeface="Calibri" panose="020F0502020204030204" charset="0"/>
                <a:cs typeface="Calibri" panose="020F0502020204030204" charset="0"/>
              </a:rPr>
              <a:t>Pandas</a:t>
            </a:r>
            <a:r>
              <a:rPr lang="en-IN" altLang="en-US" sz="2800" b="1">
                <a:latin typeface="Calibri" panose="020F0502020204030204" charset="0"/>
                <a:cs typeface="Calibri" panose="020F0502020204030204" charset="0"/>
              </a:rPr>
              <a:t>:</a:t>
            </a:r>
            <a:r>
              <a:rPr lang="en-IN" altLang="en-US" sz="2800">
                <a:latin typeface="Calibri" panose="020F0502020204030204" charset="0"/>
                <a:cs typeface="Calibri" panose="020F0502020204030204" charset="0"/>
              </a:rPr>
              <a:t> </a:t>
            </a:r>
            <a:r>
              <a:rPr lang="en-US" altLang="en-US" sz="2800">
                <a:latin typeface="Calibri" panose="020F0502020204030204" charset="0"/>
                <a:cs typeface="Calibri" panose="020F0502020204030204" charset="0"/>
              </a:rPr>
              <a:t> Used for data loading, cleaning, and manipulation</a:t>
            </a:r>
            <a:endParaRPr lang="en-US" altLang="en-US" sz="2800">
              <a:latin typeface="Calibri" panose="020F0502020204030204" charset="0"/>
              <a:cs typeface="Calibri" panose="020F0502020204030204" charset="0"/>
            </a:endParaRPr>
          </a:p>
          <a:p>
            <a:pPr>
              <a:buFont typeface="Arial" panose="020B0604020202020204" pitchFamily="34" charset="0"/>
              <a:buChar char="•"/>
            </a:pPr>
            <a:r>
              <a:rPr lang="en-US" altLang="en-US" sz="2800" b="1">
                <a:latin typeface="Calibri" panose="020F0502020204030204" charset="0"/>
                <a:cs typeface="Calibri" panose="020F0502020204030204" charset="0"/>
              </a:rPr>
              <a:t>NumPy</a:t>
            </a:r>
            <a:r>
              <a:rPr lang="en-IN" altLang="en-US" sz="2800" b="1">
                <a:latin typeface="Calibri" panose="020F0502020204030204" charset="0"/>
                <a:cs typeface="Calibri" panose="020F0502020204030204" charset="0"/>
              </a:rPr>
              <a:t>:</a:t>
            </a:r>
            <a:r>
              <a:rPr lang="en-IN" altLang="en-US" sz="2800">
                <a:latin typeface="Calibri" panose="020F0502020204030204" charset="0"/>
                <a:cs typeface="Calibri" panose="020F0502020204030204" charset="0"/>
              </a:rPr>
              <a:t> </a:t>
            </a:r>
            <a:r>
              <a:rPr lang="en-US" altLang="en-US" sz="2800">
                <a:latin typeface="Calibri" panose="020F0502020204030204" charset="0"/>
                <a:cs typeface="Calibri" panose="020F0502020204030204" charset="0"/>
              </a:rPr>
              <a:t>Used for numerical computations</a:t>
            </a:r>
            <a:endParaRPr lang="en-US" altLang="en-US" sz="2800">
              <a:latin typeface="Calibri" panose="020F0502020204030204" charset="0"/>
              <a:cs typeface="Calibri" panose="020F0502020204030204" charset="0"/>
            </a:endParaRPr>
          </a:p>
          <a:p>
            <a:pPr>
              <a:buFont typeface="Arial" panose="020B0604020202020204" pitchFamily="34" charset="0"/>
              <a:buChar char="•"/>
            </a:pPr>
            <a:r>
              <a:rPr lang="en-US" altLang="en-US" sz="2800" b="1">
                <a:latin typeface="Calibri" panose="020F0502020204030204" charset="0"/>
                <a:cs typeface="Calibri" panose="020F0502020204030204" charset="0"/>
              </a:rPr>
              <a:t>Matplotlib</a:t>
            </a:r>
            <a:r>
              <a:rPr lang="en-IN" altLang="en-US" sz="2800" b="1">
                <a:latin typeface="Calibri" panose="020F0502020204030204" charset="0"/>
                <a:cs typeface="Calibri" panose="020F0502020204030204" charset="0"/>
              </a:rPr>
              <a:t>:</a:t>
            </a:r>
            <a:r>
              <a:rPr lang="en-IN" altLang="en-US" sz="2800">
                <a:latin typeface="Calibri" panose="020F0502020204030204" charset="0"/>
                <a:cs typeface="Calibri" panose="020F0502020204030204" charset="0"/>
              </a:rPr>
              <a:t> </a:t>
            </a:r>
            <a:r>
              <a:rPr lang="en-US" altLang="en-US" sz="2800">
                <a:latin typeface="Calibri" panose="020F0502020204030204" charset="0"/>
                <a:cs typeface="Calibri" panose="020F0502020204030204" charset="0"/>
              </a:rPr>
              <a:t>Used for basic data visualizations</a:t>
            </a:r>
            <a:endParaRPr lang="en-US" altLang="en-US" sz="2800">
              <a:latin typeface="Calibri" panose="020F0502020204030204" charset="0"/>
              <a:cs typeface="Calibri" panose="020F0502020204030204" charset="0"/>
            </a:endParaRPr>
          </a:p>
          <a:p>
            <a:pPr>
              <a:buFont typeface="Arial" panose="020B0604020202020204" pitchFamily="34" charset="0"/>
              <a:buChar char="•"/>
            </a:pPr>
            <a:r>
              <a:rPr lang="en-US" altLang="en-US" sz="2800" b="1">
                <a:latin typeface="Calibri" panose="020F0502020204030204" charset="0"/>
                <a:cs typeface="Calibri" panose="020F0502020204030204" charset="0"/>
              </a:rPr>
              <a:t>Seaborn</a:t>
            </a:r>
            <a:r>
              <a:rPr lang="en-IN" altLang="en-US" sz="2800" b="1">
                <a:latin typeface="Calibri" panose="020F0502020204030204" charset="0"/>
                <a:cs typeface="Calibri" panose="020F0502020204030204" charset="0"/>
              </a:rPr>
              <a:t>:</a:t>
            </a:r>
            <a:r>
              <a:rPr lang="en-US" altLang="en-US" sz="2800">
                <a:latin typeface="Calibri" panose="020F0502020204030204" charset="0"/>
                <a:cs typeface="Calibri" panose="020F0502020204030204" charset="0"/>
              </a:rPr>
              <a:t> Used for advanced statistical visualizations</a:t>
            </a:r>
            <a:endParaRPr lang="en-US" altLang="en-US" sz="2800">
              <a:latin typeface="Calibri" panose="020F0502020204030204" charset="0"/>
              <a:cs typeface="Calibri" panose="020F0502020204030204" charset="0"/>
            </a:endParaRPr>
          </a:p>
          <a:p>
            <a:pPr>
              <a:buFont typeface="Arial" panose="020B0604020202020204" pitchFamily="34" charset="0"/>
              <a:buChar char="•"/>
            </a:pPr>
            <a:r>
              <a:rPr lang="en-US" altLang="en-US" sz="2800" b="1">
                <a:latin typeface="Calibri" panose="020F0502020204030204" charset="0"/>
                <a:cs typeface="Calibri" panose="020F0502020204030204" charset="0"/>
              </a:rPr>
              <a:t>Scikit-learn</a:t>
            </a:r>
            <a:r>
              <a:rPr lang="en-IN" altLang="en-US" sz="2800" b="1">
                <a:latin typeface="Calibri" panose="020F0502020204030204" charset="0"/>
                <a:cs typeface="Calibri" panose="020F0502020204030204" charset="0"/>
              </a:rPr>
              <a:t>:</a:t>
            </a:r>
            <a:r>
              <a:rPr lang="en-US" altLang="en-US" sz="2800">
                <a:latin typeface="Calibri" panose="020F0502020204030204" charset="0"/>
                <a:cs typeface="Calibri" panose="020F0502020204030204" charset="0"/>
              </a:rPr>
              <a:t> Used for building and evaluating machine learning models</a:t>
            </a:r>
            <a:endParaRPr lang="en-US" altLang="en-US" sz="2800">
              <a:latin typeface="Calibri" panose="020F0502020204030204" charset="0"/>
              <a:cs typeface="Calibri" panose="020F0502020204030204" charset="0"/>
            </a:endParaRPr>
          </a:p>
          <a:p>
            <a:pPr marL="0" indent="0">
              <a:buFont typeface="Arial" panose="020B0604020202020204" pitchFamily="34" charset="0"/>
              <a:buNone/>
            </a:pPr>
            <a:endParaRPr lang="en-US" altLang="en-US" sz="2800">
              <a:latin typeface="Calibri" panose="020F0502020204030204" charset="0"/>
              <a:cs typeface="Calibri" panose="020F050202020403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24890" y="518795"/>
            <a:ext cx="10557510" cy="582930"/>
          </a:xfrm>
        </p:spPr>
        <p:txBody>
          <a:bodyPr/>
          <a:p>
            <a:r>
              <a:rPr lang="en-IN" altLang="en-US" sz="4000">
                <a:latin typeface="Calibri" panose="020F0502020204030204" charset="0"/>
                <a:cs typeface="Calibri" panose="020F0502020204030204" charset="0"/>
              </a:rPr>
              <a:t>Dataset Overview</a:t>
            </a:r>
            <a:endParaRPr lang="en-IN" altLang="en-US" sz="4000">
              <a:latin typeface="Calibri" panose="020F0502020204030204" charset="0"/>
              <a:cs typeface="Calibri" panose="020F0502020204030204" charset="0"/>
            </a:endParaRPr>
          </a:p>
        </p:txBody>
      </p:sp>
      <p:sp>
        <p:nvSpPr>
          <p:cNvPr id="3" name="Content Placeholder 2"/>
          <p:cNvSpPr>
            <a:spLocks noGrp="1"/>
          </p:cNvSpPr>
          <p:nvPr>
            <p:ph idx="1"/>
          </p:nvPr>
        </p:nvSpPr>
        <p:spPr>
          <a:xfrm>
            <a:off x="1024255" y="1464310"/>
            <a:ext cx="10558145" cy="4953000"/>
          </a:xfrm>
        </p:spPr>
        <p:txBody>
          <a:bodyPr/>
          <a:p>
            <a:pPr>
              <a:buFont typeface="Arial" panose="020B0604020202020204" pitchFamily="34" charset="0"/>
              <a:buChar char="•"/>
            </a:pPr>
            <a:r>
              <a:rPr lang="en-US" altLang="en-US" sz="2800">
                <a:latin typeface="Calibri" panose="020F0502020204030204" charset="0"/>
                <a:cs typeface="Calibri" panose="020F0502020204030204" charset="0"/>
              </a:rPr>
              <a:t>The dataset contains salary details of San Francisco city employees.</a:t>
            </a:r>
            <a:endParaRPr lang="en-US" altLang="en-US" sz="2800">
              <a:latin typeface="Calibri" panose="020F0502020204030204" charset="0"/>
              <a:cs typeface="Calibri" panose="020F0502020204030204" charset="0"/>
            </a:endParaRPr>
          </a:p>
          <a:p>
            <a:pPr>
              <a:buFont typeface="Arial" panose="020B0604020202020204" pitchFamily="34" charset="0"/>
              <a:buChar char="•"/>
            </a:pPr>
            <a:r>
              <a:rPr lang="en-US" altLang="en-US" sz="2800">
                <a:latin typeface="Calibri" panose="020F0502020204030204" charset="0"/>
                <a:cs typeface="Calibri" panose="020F0502020204030204" charset="0"/>
              </a:rPr>
              <a:t>It includes information related to employee job titles, departments, and salary components.</a:t>
            </a:r>
            <a:endParaRPr lang="en-US" altLang="en-US" sz="2800">
              <a:latin typeface="Calibri" panose="020F0502020204030204" charset="0"/>
              <a:cs typeface="Calibri" panose="020F0502020204030204" charset="0"/>
            </a:endParaRPr>
          </a:p>
          <a:p>
            <a:pPr>
              <a:buFont typeface="Arial" panose="020B0604020202020204" pitchFamily="34" charset="0"/>
              <a:buChar char="•"/>
            </a:pPr>
            <a:r>
              <a:rPr lang="en-US" altLang="en-US" sz="2800">
                <a:latin typeface="Calibri" panose="020F0502020204030204" charset="0"/>
                <a:cs typeface="Calibri" panose="020F0502020204030204" charset="0"/>
              </a:rPr>
              <a:t>Key salary components in the dataset are BasePay, OvertimePay, OtherPay, and Benefits.</a:t>
            </a:r>
            <a:endParaRPr lang="en-US" altLang="en-US" sz="2800">
              <a:latin typeface="Calibri" panose="020F0502020204030204" charset="0"/>
              <a:cs typeface="Calibri" panose="020F0502020204030204" charset="0"/>
            </a:endParaRPr>
          </a:p>
          <a:p>
            <a:pPr>
              <a:buFont typeface="Arial" panose="020B0604020202020204" pitchFamily="34" charset="0"/>
              <a:buChar char="•"/>
            </a:pPr>
            <a:r>
              <a:rPr lang="en-US" altLang="en-US" sz="2800">
                <a:latin typeface="Calibri" panose="020F0502020204030204" charset="0"/>
                <a:cs typeface="Calibri" panose="020F0502020204030204" charset="0"/>
              </a:rPr>
              <a:t>The dataset covers multiple years, allowing trend analysis over time.</a:t>
            </a:r>
            <a:endParaRPr lang="en-US" altLang="en-US" sz="2800">
              <a:latin typeface="Calibri" panose="020F0502020204030204" charset="0"/>
              <a:cs typeface="Calibri" panose="020F050202020403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66470" y="200660"/>
            <a:ext cx="10972800" cy="582613"/>
          </a:xfrm>
        </p:spPr>
        <p:txBody>
          <a:bodyPr/>
          <a:p>
            <a:r>
              <a:rPr lang="en-IN" altLang="en-US" sz="4000">
                <a:latin typeface="Calibri" panose="020F0502020204030204" charset="0"/>
                <a:cs typeface="Calibri" panose="020F0502020204030204" charset="0"/>
              </a:rPr>
              <a:t>Key columns</a:t>
            </a:r>
            <a:endParaRPr lang="en-IN" altLang="en-US" sz="4000">
              <a:latin typeface="Calibri" panose="020F0502020204030204" charset="0"/>
              <a:cs typeface="Calibri" panose="020F0502020204030204" charset="0"/>
            </a:endParaRPr>
          </a:p>
        </p:txBody>
      </p:sp>
      <p:sp>
        <p:nvSpPr>
          <p:cNvPr id="3" name="Content Placeholder 2"/>
          <p:cNvSpPr>
            <a:spLocks noGrp="1"/>
          </p:cNvSpPr>
          <p:nvPr>
            <p:ph idx="1"/>
          </p:nvPr>
        </p:nvSpPr>
        <p:spPr>
          <a:xfrm>
            <a:off x="1024255" y="1040130"/>
            <a:ext cx="10972800" cy="5146040"/>
          </a:xfrm>
        </p:spPr>
        <p:txBody>
          <a:bodyPr/>
          <a:p>
            <a:pPr>
              <a:buFont typeface="Arial" panose="020B0604020202020204" pitchFamily="34" charset="0"/>
              <a:buChar char="•"/>
            </a:pPr>
            <a:r>
              <a:rPr lang="en-US" altLang="en-US" sz="2800" b="1">
                <a:solidFill>
                  <a:schemeClr val="tx1"/>
                </a:solidFill>
                <a:effectLst/>
                <a:latin typeface="Calibri" panose="020F0502020204030204" charset="0"/>
                <a:cs typeface="Calibri" panose="020F0502020204030204" charset="0"/>
              </a:rPr>
              <a:t>Id</a:t>
            </a:r>
            <a:r>
              <a:rPr lang="en-IN" altLang="en-US" sz="2800" b="1">
                <a:solidFill>
                  <a:schemeClr val="tx1"/>
                </a:solidFill>
                <a:effectLst/>
                <a:latin typeface="Calibri" panose="020F0502020204030204" charset="0"/>
                <a:cs typeface="Calibri" panose="020F0502020204030204" charset="0"/>
              </a:rPr>
              <a:t>:</a:t>
            </a:r>
            <a:r>
              <a:rPr lang="en-US" altLang="en-US" sz="2800">
                <a:solidFill>
                  <a:schemeClr val="tx1"/>
                </a:solidFill>
                <a:effectLst/>
                <a:latin typeface="Calibri" panose="020F0502020204030204" charset="0"/>
                <a:cs typeface="Calibri" panose="020F0502020204030204" charset="0"/>
              </a:rPr>
              <a:t> Unique identifier for each employee record</a:t>
            </a:r>
            <a:endParaRPr lang="en-US" altLang="en-US" sz="2800">
              <a:solidFill>
                <a:schemeClr val="tx1"/>
              </a:solidFill>
              <a:effectLst/>
              <a:latin typeface="Calibri" panose="020F0502020204030204" charset="0"/>
              <a:cs typeface="Calibri" panose="020F0502020204030204" charset="0"/>
            </a:endParaRPr>
          </a:p>
          <a:p>
            <a:pPr>
              <a:buFont typeface="Arial" panose="020B0604020202020204" pitchFamily="34" charset="0"/>
              <a:buChar char="•"/>
            </a:pPr>
            <a:r>
              <a:rPr lang="en-US" altLang="en-US" sz="2800" b="1">
                <a:solidFill>
                  <a:schemeClr val="tx1"/>
                </a:solidFill>
                <a:effectLst/>
                <a:latin typeface="Calibri" panose="020F0502020204030204" charset="0"/>
                <a:cs typeface="Calibri" panose="020F0502020204030204" charset="0"/>
              </a:rPr>
              <a:t>EmployeeName</a:t>
            </a:r>
            <a:r>
              <a:rPr lang="en-IN" altLang="en-US" sz="2800" b="1">
                <a:solidFill>
                  <a:schemeClr val="tx1"/>
                </a:solidFill>
                <a:effectLst/>
                <a:latin typeface="Calibri" panose="020F0502020204030204" charset="0"/>
                <a:cs typeface="Calibri" panose="020F0502020204030204" charset="0"/>
              </a:rPr>
              <a:t>: </a:t>
            </a:r>
            <a:r>
              <a:rPr lang="en-US" altLang="en-US" sz="2800">
                <a:solidFill>
                  <a:schemeClr val="tx1"/>
                </a:solidFill>
                <a:effectLst/>
                <a:latin typeface="Calibri" panose="020F0502020204030204" charset="0"/>
                <a:cs typeface="Calibri" panose="020F0502020204030204" charset="0"/>
              </a:rPr>
              <a:t>Name of the employee</a:t>
            </a:r>
            <a:endParaRPr lang="en-US" altLang="en-US" sz="2800">
              <a:solidFill>
                <a:schemeClr val="tx1"/>
              </a:solidFill>
              <a:effectLst/>
              <a:latin typeface="Calibri" panose="020F0502020204030204" charset="0"/>
              <a:cs typeface="Calibri" panose="020F0502020204030204" charset="0"/>
            </a:endParaRPr>
          </a:p>
          <a:p>
            <a:pPr>
              <a:buFont typeface="Arial" panose="020B0604020202020204" pitchFamily="34" charset="0"/>
              <a:buChar char="•"/>
            </a:pPr>
            <a:r>
              <a:rPr lang="en-US" altLang="en-US" sz="2800" b="1">
                <a:solidFill>
                  <a:schemeClr val="tx1"/>
                </a:solidFill>
                <a:effectLst/>
                <a:latin typeface="Calibri" panose="020F0502020204030204" charset="0"/>
                <a:cs typeface="Calibri" panose="020F0502020204030204" charset="0"/>
              </a:rPr>
              <a:t>JobTitle</a:t>
            </a:r>
            <a:r>
              <a:rPr lang="en-IN" altLang="en-US" sz="2800" b="1">
                <a:solidFill>
                  <a:schemeClr val="tx1"/>
                </a:solidFill>
                <a:effectLst/>
                <a:latin typeface="Calibri" panose="020F0502020204030204" charset="0"/>
                <a:cs typeface="Calibri" panose="020F0502020204030204" charset="0"/>
              </a:rPr>
              <a:t>:</a:t>
            </a:r>
            <a:r>
              <a:rPr lang="en-US" altLang="en-US" sz="2800">
                <a:solidFill>
                  <a:schemeClr val="tx1"/>
                </a:solidFill>
                <a:effectLst/>
                <a:latin typeface="Calibri" panose="020F0502020204030204" charset="0"/>
                <a:cs typeface="Calibri" panose="020F0502020204030204" charset="0"/>
              </a:rPr>
              <a:t> Job role/designation of the employee</a:t>
            </a:r>
            <a:endParaRPr lang="en-US" altLang="en-US" sz="2800">
              <a:solidFill>
                <a:schemeClr val="tx1"/>
              </a:solidFill>
              <a:effectLst/>
              <a:latin typeface="Calibri" panose="020F0502020204030204" charset="0"/>
              <a:cs typeface="Calibri" panose="020F0502020204030204" charset="0"/>
            </a:endParaRPr>
          </a:p>
          <a:p>
            <a:pPr>
              <a:buFont typeface="Arial" panose="020B0604020202020204" pitchFamily="34" charset="0"/>
              <a:buChar char="•"/>
            </a:pPr>
            <a:r>
              <a:rPr lang="en-US" altLang="en-US" sz="2800" b="1">
                <a:solidFill>
                  <a:schemeClr val="tx1"/>
                </a:solidFill>
                <a:effectLst/>
                <a:latin typeface="Calibri" panose="020F0502020204030204" charset="0"/>
                <a:cs typeface="Calibri" panose="020F0502020204030204" charset="0"/>
              </a:rPr>
              <a:t>BasePay</a:t>
            </a:r>
            <a:r>
              <a:rPr lang="en-IN" altLang="en-US" sz="2800" b="1">
                <a:solidFill>
                  <a:schemeClr val="tx1"/>
                </a:solidFill>
                <a:effectLst/>
                <a:latin typeface="Calibri" panose="020F0502020204030204" charset="0"/>
                <a:cs typeface="Calibri" panose="020F0502020204030204" charset="0"/>
              </a:rPr>
              <a:t>:</a:t>
            </a:r>
            <a:r>
              <a:rPr lang="en-US" altLang="en-US" sz="2800">
                <a:solidFill>
                  <a:schemeClr val="tx1"/>
                </a:solidFill>
                <a:effectLst/>
                <a:latin typeface="Calibri" panose="020F0502020204030204" charset="0"/>
                <a:cs typeface="Calibri" panose="020F0502020204030204" charset="0"/>
              </a:rPr>
              <a:t> Base salary paid to the employee</a:t>
            </a:r>
            <a:endParaRPr lang="en-US" altLang="en-US" sz="2800">
              <a:solidFill>
                <a:schemeClr val="tx1"/>
              </a:solidFill>
              <a:effectLst/>
              <a:latin typeface="Calibri" panose="020F0502020204030204" charset="0"/>
              <a:cs typeface="Calibri" panose="020F0502020204030204" charset="0"/>
            </a:endParaRPr>
          </a:p>
          <a:p>
            <a:pPr>
              <a:buFont typeface="Arial" panose="020B0604020202020204" pitchFamily="34" charset="0"/>
              <a:buChar char="•"/>
            </a:pPr>
            <a:r>
              <a:rPr lang="en-US" altLang="en-US" sz="2800" b="1">
                <a:solidFill>
                  <a:schemeClr val="tx1"/>
                </a:solidFill>
                <a:effectLst/>
                <a:latin typeface="Calibri" panose="020F0502020204030204" charset="0"/>
                <a:cs typeface="Calibri" panose="020F0502020204030204" charset="0"/>
              </a:rPr>
              <a:t>OvertimePay</a:t>
            </a:r>
            <a:r>
              <a:rPr lang="en-IN" altLang="en-US" sz="2800" b="1">
                <a:solidFill>
                  <a:schemeClr val="tx1"/>
                </a:solidFill>
                <a:effectLst/>
                <a:latin typeface="Calibri" panose="020F0502020204030204" charset="0"/>
                <a:cs typeface="Calibri" panose="020F0502020204030204" charset="0"/>
              </a:rPr>
              <a:t>:</a:t>
            </a:r>
            <a:r>
              <a:rPr lang="en-IN" altLang="en-US" sz="2800">
                <a:solidFill>
                  <a:schemeClr val="tx1"/>
                </a:solidFill>
                <a:effectLst/>
                <a:latin typeface="Calibri" panose="020F0502020204030204" charset="0"/>
                <a:cs typeface="Calibri" panose="020F0502020204030204" charset="0"/>
              </a:rPr>
              <a:t> </a:t>
            </a:r>
            <a:r>
              <a:rPr lang="en-US" altLang="en-US" sz="2800">
                <a:solidFill>
                  <a:schemeClr val="tx1"/>
                </a:solidFill>
                <a:effectLst/>
                <a:latin typeface="Calibri" panose="020F0502020204030204" charset="0"/>
                <a:cs typeface="Calibri" panose="020F0502020204030204" charset="0"/>
              </a:rPr>
              <a:t>Additional pay for overtime work</a:t>
            </a:r>
            <a:endParaRPr lang="en-US" altLang="en-US" sz="2800">
              <a:solidFill>
                <a:schemeClr val="tx1"/>
              </a:solidFill>
              <a:effectLst/>
              <a:latin typeface="Calibri" panose="020F0502020204030204" charset="0"/>
              <a:cs typeface="Calibri" panose="020F0502020204030204" charset="0"/>
            </a:endParaRPr>
          </a:p>
          <a:p>
            <a:pPr>
              <a:buFont typeface="Arial" panose="020B0604020202020204" pitchFamily="34" charset="0"/>
              <a:buChar char="•"/>
            </a:pPr>
            <a:r>
              <a:rPr lang="en-US" altLang="en-US" sz="2800" b="1">
                <a:solidFill>
                  <a:schemeClr val="tx1"/>
                </a:solidFill>
                <a:effectLst/>
                <a:latin typeface="Calibri" panose="020F0502020204030204" charset="0"/>
                <a:cs typeface="Calibri" panose="020F0502020204030204" charset="0"/>
              </a:rPr>
              <a:t>OtherPay</a:t>
            </a:r>
            <a:r>
              <a:rPr lang="en-IN" altLang="en-US" sz="2800" b="1">
                <a:solidFill>
                  <a:schemeClr val="tx1"/>
                </a:solidFill>
                <a:effectLst/>
                <a:latin typeface="Calibri" panose="020F0502020204030204" charset="0"/>
                <a:cs typeface="Calibri" panose="020F0502020204030204" charset="0"/>
              </a:rPr>
              <a:t>:</a:t>
            </a:r>
            <a:r>
              <a:rPr lang="en-US" altLang="en-US" sz="2800">
                <a:solidFill>
                  <a:schemeClr val="tx1"/>
                </a:solidFill>
                <a:effectLst/>
                <a:latin typeface="Calibri" panose="020F0502020204030204" charset="0"/>
                <a:cs typeface="Calibri" panose="020F0502020204030204" charset="0"/>
              </a:rPr>
              <a:t> Other types of compensation</a:t>
            </a:r>
            <a:endParaRPr lang="en-US" altLang="en-US" sz="2800">
              <a:solidFill>
                <a:schemeClr val="tx1"/>
              </a:solidFill>
              <a:effectLst/>
              <a:latin typeface="Calibri" panose="020F0502020204030204" charset="0"/>
              <a:cs typeface="Calibri" panose="020F0502020204030204" charset="0"/>
            </a:endParaRPr>
          </a:p>
          <a:p>
            <a:pPr>
              <a:buFont typeface="Arial" panose="020B0604020202020204" pitchFamily="34" charset="0"/>
              <a:buChar char="•"/>
            </a:pPr>
            <a:r>
              <a:rPr lang="en-US" altLang="en-US" sz="2800" b="1">
                <a:solidFill>
                  <a:schemeClr val="tx1"/>
                </a:solidFill>
                <a:effectLst/>
                <a:latin typeface="Calibri" panose="020F0502020204030204" charset="0"/>
                <a:cs typeface="Calibri" panose="020F0502020204030204" charset="0"/>
              </a:rPr>
              <a:t>Benefits</a:t>
            </a:r>
            <a:r>
              <a:rPr lang="en-IN" altLang="en-US" sz="2800" b="1">
                <a:solidFill>
                  <a:schemeClr val="tx1"/>
                </a:solidFill>
                <a:effectLst/>
                <a:latin typeface="Calibri" panose="020F0502020204030204" charset="0"/>
                <a:cs typeface="Calibri" panose="020F0502020204030204" charset="0"/>
              </a:rPr>
              <a:t>:</a:t>
            </a:r>
            <a:r>
              <a:rPr lang="en-IN" altLang="en-US" sz="2800">
                <a:solidFill>
                  <a:schemeClr val="tx1"/>
                </a:solidFill>
                <a:effectLst/>
                <a:latin typeface="Calibri" panose="020F0502020204030204" charset="0"/>
                <a:cs typeface="Calibri" panose="020F0502020204030204" charset="0"/>
              </a:rPr>
              <a:t> </a:t>
            </a:r>
            <a:r>
              <a:rPr lang="en-US" altLang="en-US" sz="2800">
                <a:solidFill>
                  <a:schemeClr val="tx1"/>
                </a:solidFill>
                <a:effectLst/>
                <a:latin typeface="Calibri" panose="020F0502020204030204" charset="0"/>
                <a:cs typeface="Calibri" panose="020F0502020204030204" charset="0"/>
              </a:rPr>
              <a:t>Benefits received by the employee</a:t>
            </a:r>
            <a:endParaRPr lang="en-US" altLang="en-US" sz="2800">
              <a:solidFill>
                <a:schemeClr val="tx1"/>
              </a:solidFill>
              <a:effectLst/>
              <a:latin typeface="Calibri" panose="020F0502020204030204" charset="0"/>
              <a:cs typeface="Calibri" panose="020F0502020204030204" charset="0"/>
            </a:endParaRPr>
          </a:p>
          <a:p>
            <a:pPr>
              <a:buFont typeface="Arial" panose="020B0604020202020204" pitchFamily="34" charset="0"/>
              <a:buChar char="•"/>
            </a:pPr>
            <a:r>
              <a:rPr lang="en-US" altLang="en-US" sz="2800" b="1">
                <a:solidFill>
                  <a:schemeClr val="tx1"/>
                </a:solidFill>
                <a:effectLst/>
                <a:latin typeface="Calibri" panose="020F0502020204030204" charset="0"/>
                <a:cs typeface="Calibri" panose="020F0502020204030204" charset="0"/>
              </a:rPr>
              <a:t>TotalPay</a:t>
            </a:r>
            <a:r>
              <a:rPr lang="en-IN" altLang="en-US" sz="2800" b="1">
                <a:solidFill>
                  <a:schemeClr val="tx1"/>
                </a:solidFill>
                <a:effectLst/>
                <a:latin typeface="Calibri" panose="020F0502020204030204" charset="0"/>
                <a:cs typeface="Calibri" panose="020F0502020204030204" charset="0"/>
              </a:rPr>
              <a:t>:</a:t>
            </a:r>
            <a:r>
              <a:rPr lang="en-US" altLang="en-US" sz="2800">
                <a:solidFill>
                  <a:schemeClr val="tx1"/>
                </a:solidFill>
                <a:effectLst/>
                <a:latin typeface="Calibri" panose="020F0502020204030204" charset="0"/>
                <a:cs typeface="Calibri" panose="020F0502020204030204" charset="0"/>
              </a:rPr>
              <a:t> Sum of base pay, overtime pay, and other pay</a:t>
            </a:r>
            <a:endParaRPr lang="en-US" altLang="en-US" sz="2800">
              <a:solidFill>
                <a:schemeClr val="tx1"/>
              </a:solidFill>
              <a:effectLst/>
              <a:latin typeface="Calibri" panose="020F0502020204030204" charset="0"/>
              <a:cs typeface="Calibri" panose="020F0502020204030204" charset="0"/>
            </a:endParaRPr>
          </a:p>
          <a:p>
            <a:pPr>
              <a:buFont typeface="Arial" panose="020B0604020202020204" pitchFamily="34" charset="0"/>
              <a:buChar char="•"/>
            </a:pPr>
            <a:r>
              <a:rPr lang="en-US" altLang="en-US" sz="2800" b="1">
                <a:solidFill>
                  <a:schemeClr val="tx1"/>
                </a:solidFill>
                <a:effectLst/>
                <a:latin typeface="Calibri" panose="020F0502020204030204" charset="0"/>
                <a:cs typeface="Calibri" panose="020F0502020204030204" charset="0"/>
              </a:rPr>
              <a:t>TotalPayBenefits</a:t>
            </a:r>
            <a:r>
              <a:rPr lang="en-IN" altLang="en-US" sz="2800" b="1">
                <a:solidFill>
                  <a:schemeClr val="tx1"/>
                </a:solidFill>
                <a:effectLst/>
                <a:latin typeface="Calibri" panose="020F0502020204030204" charset="0"/>
                <a:cs typeface="Calibri" panose="020F0502020204030204" charset="0"/>
              </a:rPr>
              <a:t>:</a:t>
            </a:r>
            <a:r>
              <a:rPr lang="en-US" altLang="en-US" sz="2800">
                <a:solidFill>
                  <a:schemeClr val="tx1"/>
                </a:solidFill>
                <a:effectLst/>
                <a:latin typeface="Calibri" panose="020F0502020204030204" charset="0"/>
                <a:cs typeface="Calibri" panose="020F0502020204030204" charset="0"/>
              </a:rPr>
              <a:t> Total compensation including benefits</a:t>
            </a:r>
            <a:endParaRPr lang="en-US" altLang="en-US" sz="2800">
              <a:solidFill>
                <a:schemeClr val="tx1"/>
              </a:solidFill>
              <a:effectLst/>
              <a:latin typeface="Calibri" panose="020F0502020204030204" charset="0"/>
              <a:cs typeface="Calibri" panose="020F0502020204030204" charset="0"/>
            </a:endParaRPr>
          </a:p>
          <a:p>
            <a:pPr>
              <a:buFont typeface="Arial" panose="020B0604020202020204" pitchFamily="34" charset="0"/>
              <a:buChar char="•"/>
            </a:pPr>
            <a:r>
              <a:rPr lang="en-US" altLang="en-US" sz="2800" b="1">
                <a:solidFill>
                  <a:schemeClr val="tx1"/>
                </a:solidFill>
                <a:effectLst/>
                <a:latin typeface="Calibri" panose="020F0502020204030204" charset="0"/>
                <a:cs typeface="Calibri" panose="020F0502020204030204" charset="0"/>
              </a:rPr>
              <a:t>Year</a:t>
            </a:r>
            <a:r>
              <a:rPr lang="en-IN" altLang="en-US" sz="2800" b="1">
                <a:solidFill>
                  <a:schemeClr val="tx1"/>
                </a:solidFill>
                <a:effectLst/>
                <a:latin typeface="Calibri" panose="020F0502020204030204" charset="0"/>
                <a:cs typeface="Calibri" panose="020F0502020204030204" charset="0"/>
              </a:rPr>
              <a:t>:</a:t>
            </a:r>
            <a:r>
              <a:rPr lang="en-US" altLang="en-US" sz="2800">
                <a:solidFill>
                  <a:schemeClr val="tx1"/>
                </a:solidFill>
                <a:effectLst/>
                <a:latin typeface="Calibri" panose="020F0502020204030204" charset="0"/>
                <a:cs typeface="Calibri" panose="020F0502020204030204" charset="0"/>
              </a:rPr>
              <a:t> Year of the salary record</a:t>
            </a:r>
            <a:endParaRPr lang="en-US" altLang="en-US" sz="2800">
              <a:solidFill>
                <a:schemeClr val="tx1"/>
              </a:solidFill>
              <a:effectLst/>
              <a:latin typeface="Calibri" panose="020F0502020204030204" charset="0"/>
              <a:cs typeface="Calibri" panose="020F050202020403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14095" y="730885"/>
            <a:ext cx="10838180" cy="582930"/>
          </a:xfrm>
        </p:spPr>
        <p:txBody>
          <a:bodyPr/>
          <a:p>
            <a:r>
              <a:rPr lang="en-IN" altLang="en-US" sz="4000">
                <a:latin typeface="Calibri" panose="020F0502020204030204" charset="0"/>
                <a:cs typeface="Calibri" panose="020F0502020204030204" charset="0"/>
              </a:rPr>
              <a:t>Data Preprocessing / Data Cleaning</a:t>
            </a:r>
            <a:endParaRPr lang="en-IN" altLang="en-US" sz="4000">
              <a:latin typeface="Calibri" panose="020F0502020204030204" charset="0"/>
              <a:cs typeface="Calibri" panose="020F0502020204030204" charset="0"/>
            </a:endParaRPr>
          </a:p>
        </p:txBody>
      </p:sp>
      <p:sp>
        <p:nvSpPr>
          <p:cNvPr id="3" name="Content Placeholder 2"/>
          <p:cNvSpPr>
            <a:spLocks noGrp="1"/>
          </p:cNvSpPr>
          <p:nvPr>
            <p:ph idx="1"/>
          </p:nvPr>
        </p:nvSpPr>
        <p:spPr>
          <a:xfrm>
            <a:off x="1014730" y="1905000"/>
            <a:ext cx="9507220" cy="4953000"/>
          </a:xfrm>
        </p:spPr>
        <p:txBody>
          <a:bodyPr/>
          <a:p>
            <a:pPr>
              <a:buFont typeface="Arial" panose="020B0604020202020204" pitchFamily="34" charset="0"/>
              <a:buChar char="•"/>
            </a:pPr>
            <a:r>
              <a:rPr lang="en-US" altLang="en-US" sz="2800">
                <a:latin typeface="Calibri" panose="020F0502020204030204" charset="0"/>
                <a:cs typeface="Calibri" panose="020F0502020204030204" charset="0"/>
              </a:rPr>
              <a:t>Handled missing and null values in salary-related columns.</a:t>
            </a:r>
            <a:endParaRPr lang="en-US" altLang="en-US" sz="2800">
              <a:latin typeface="Calibri" panose="020F0502020204030204" charset="0"/>
              <a:cs typeface="Calibri" panose="020F0502020204030204" charset="0"/>
            </a:endParaRPr>
          </a:p>
          <a:p>
            <a:pPr>
              <a:buFont typeface="Arial" panose="020B0604020202020204" pitchFamily="34" charset="0"/>
              <a:buChar char="•"/>
            </a:pPr>
            <a:r>
              <a:rPr lang="en-US" altLang="en-US" sz="2800">
                <a:latin typeface="Calibri" panose="020F0502020204030204" charset="0"/>
                <a:cs typeface="Calibri" panose="020F0502020204030204" charset="0"/>
              </a:rPr>
              <a:t>Converted salary columns to numeric format for analysis.</a:t>
            </a:r>
            <a:endParaRPr lang="en-US" altLang="en-US" sz="2800">
              <a:latin typeface="Calibri" panose="020F0502020204030204" charset="0"/>
              <a:cs typeface="Calibri" panose="020F0502020204030204" charset="0"/>
            </a:endParaRPr>
          </a:p>
          <a:p>
            <a:pPr>
              <a:buFont typeface="Arial" panose="020B0604020202020204" pitchFamily="34" charset="0"/>
              <a:buChar char="•"/>
            </a:pPr>
            <a:r>
              <a:rPr lang="en-US" altLang="en-US" sz="2800">
                <a:latin typeface="Calibri" panose="020F0502020204030204" charset="0"/>
                <a:cs typeface="Calibri" panose="020F0502020204030204" charset="0"/>
              </a:rPr>
              <a:t>Removed or corrected invalid and inconsistent data entries.</a:t>
            </a:r>
            <a:endParaRPr lang="en-US" altLang="en-US" sz="2800">
              <a:latin typeface="Calibri" panose="020F0502020204030204" charset="0"/>
              <a:cs typeface="Calibri" panose="020F0502020204030204" charset="0"/>
            </a:endParaRPr>
          </a:p>
          <a:p>
            <a:pPr>
              <a:buFont typeface="Arial" panose="020B0604020202020204" pitchFamily="34" charset="0"/>
              <a:buChar char="•"/>
            </a:pPr>
            <a:r>
              <a:rPr lang="en-US" altLang="en-US" sz="2800">
                <a:latin typeface="Calibri" panose="020F0502020204030204" charset="0"/>
                <a:cs typeface="Calibri" panose="020F0502020204030204" charset="0"/>
              </a:rPr>
              <a:t>Ensured the dataset was clean and ready for analysis and modeling.</a:t>
            </a:r>
            <a:endParaRPr lang="en-US" altLang="en-US" sz="2800">
              <a:latin typeface="Calibri" panose="020F0502020204030204" charset="0"/>
              <a:cs typeface="Calibri" panose="020F05020202040302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69950" y="441325"/>
            <a:ext cx="10972800" cy="582613"/>
          </a:xfrm>
        </p:spPr>
        <p:txBody>
          <a:bodyPr/>
          <a:p>
            <a:r>
              <a:rPr lang="en-IN" altLang="en-US" sz="4000">
                <a:latin typeface="Calibri" panose="020F0502020204030204" charset="0"/>
                <a:cs typeface="Calibri" panose="020F0502020204030204" charset="0"/>
              </a:rPr>
              <a:t>Data Profiling</a:t>
            </a:r>
            <a:endParaRPr lang="en-IN" altLang="en-US" sz="4000">
              <a:latin typeface="Calibri" panose="020F0502020204030204" charset="0"/>
              <a:cs typeface="Calibri" panose="020F0502020204030204" charset="0"/>
            </a:endParaRPr>
          </a:p>
        </p:txBody>
      </p:sp>
      <p:sp>
        <p:nvSpPr>
          <p:cNvPr id="3" name="Content Placeholder 2"/>
          <p:cNvSpPr>
            <a:spLocks noGrp="1"/>
          </p:cNvSpPr>
          <p:nvPr>
            <p:ph idx="1"/>
          </p:nvPr>
        </p:nvSpPr>
        <p:spPr>
          <a:xfrm>
            <a:off x="869950" y="1386840"/>
            <a:ext cx="9564370" cy="4953000"/>
          </a:xfrm>
        </p:spPr>
        <p:txBody>
          <a:bodyPr/>
          <a:p>
            <a:pPr>
              <a:buFont typeface="Arial" panose="020B0604020202020204" pitchFamily="34" charset="0"/>
              <a:buChar char="•"/>
            </a:pPr>
            <a:r>
              <a:rPr lang="en-US" altLang="en-US" sz="2800">
                <a:latin typeface="Calibri" panose="020F0502020204030204" charset="0"/>
                <a:cs typeface="Calibri" panose="020F0502020204030204" charset="0"/>
              </a:rPr>
              <a:t>Data profiling was performed to understand the structure and quality of the dataset.</a:t>
            </a:r>
            <a:endParaRPr lang="en-US" altLang="en-US" sz="2800">
              <a:latin typeface="Calibri" panose="020F0502020204030204" charset="0"/>
              <a:cs typeface="Calibri" panose="020F0502020204030204" charset="0"/>
            </a:endParaRPr>
          </a:p>
          <a:p>
            <a:pPr>
              <a:buFont typeface="Arial" panose="020B0604020202020204" pitchFamily="34" charset="0"/>
              <a:buChar char="•"/>
            </a:pPr>
            <a:r>
              <a:rPr lang="en-US" altLang="en-US" sz="2800">
                <a:latin typeface="Calibri" panose="020F0502020204030204" charset="0"/>
                <a:cs typeface="Calibri" panose="020F0502020204030204" charset="0"/>
              </a:rPr>
              <a:t>It helped identify missing values, data types, and value distributions.</a:t>
            </a:r>
            <a:endParaRPr lang="en-US" altLang="en-US" sz="2800">
              <a:latin typeface="Calibri" panose="020F0502020204030204" charset="0"/>
              <a:cs typeface="Calibri" panose="020F0502020204030204" charset="0"/>
            </a:endParaRPr>
          </a:p>
          <a:p>
            <a:pPr>
              <a:buFont typeface="Arial" panose="020B0604020202020204" pitchFamily="34" charset="0"/>
              <a:buChar char="•"/>
            </a:pPr>
            <a:r>
              <a:rPr lang="en-US" altLang="en-US" sz="2800">
                <a:latin typeface="Calibri" panose="020F0502020204030204" charset="0"/>
                <a:cs typeface="Calibri" panose="020F0502020204030204" charset="0"/>
              </a:rPr>
              <a:t>Summary statistics provided an overview of salary components.</a:t>
            </a:r>
            <a:endParaRPr lang="en-US" altLang="en-US" sz="2800">
              <a:latin typeface="Calibri" panose="020F0502020204030204" charset="0"/>
              <a:cs typeface="Calibri" panose="020F0502020204030204" charset="0"/>
            </a:endParaRPr>
          </a:p>
          <a:p>
            <a:pPr>
              <a:buFont typeface="Arial" panose="020B0604020202020204" pitchFamily="34" charset="0"/>
              <a:buChar char="•"/>
            </a:pPr>
            <a:r>
              <a:rPr lang="en-US" altLang="en-US" sz="2800">
                <a:latin typeface="Calibri" panose="020F0502020204030204" charset="0"/>
                <a:cs typeface="Calibri" panose="020F0502020204030204" charset="0"/>
              </a:rPr>
              <a:t>Outliers and extreme values in salary fields were identified.</a:t>
            </a:r>
            <a:endParaRPr lang="en-US" altLang="en-US" sz="2800">
              <a:latin typeface="Calibri" panose="020F0502020204030204" charset="0"/>
              <a:cs typeface="Calibri" panose="020F0502020204030204" charset="0"/>
            </a:endParaRPr>
          </a:p>
          <a:p>
            <a:pPr>
              <a:buFont typeface="Arial" panose="020B0604020202020204" pitchFamily="34" charset="0"/>
              <a:buChar char="•"/>
            </a:pPr>
            <a:r>
              <a:rPr lang="en-US" altLang="en-US" sz="2800">
                <a:latin typeface="Calibri" panose="020F0502020204030204" charset="0"/>
                <a:cs typeface="Calibri" panose="020F0502020204030204" charset="0"/>
              </a:rPr>
              <a:t>This step helped validate data readiness before EDA and modeling.</a:t>
            </a:r>
            <a:endParaRPr lang="en-US" altLang="en-US" sz="2800">
              <a:latin typeface="Calibri" panose="020F0502020204030204" charset="0"/>
              <a:cs typeface="Calibri" panose="020F05020202040302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332865" y="517525"/>
            <a:ext cx="10249535" cy="699135"/>
          </a:xfrm>
        </p:spPr>
        <p:txBody>
          <a:bodyPr/>
          <a:p>
            <a:r>
              <a:rPr lang="en-IN" altLang="en-US" sz="4000">
                <a:latin typeface="Calibri" panose="020F0502020204030204" charset="0"/>
                <a:cs typeface="Calibri" panose="020F0502020204030204" charset="0"/>
              </a:rPr>
              <a:t>Exploratory Data Analysis</a:t>
            </a:r>
            <a:endParaRPr lang="en-IN" altLang="en-US" sz="4000">
              <a:latin typeface="Calibri" panose="020F0502020204030204" charset="0"/>
              <a:cs typeface="Calibri" panose="020F0502020204030204" charset="0"/>
            </a:endParaRPr>
          </a:p>
        </p:txBody>
      </p:sp>
      <p:sp>
        <p:nvSpPr>
          <p:cNvPr id="3" name="Content Placeholder 2"/>
          <p:cNvSpPr>
            <a:spLocks noGrp="1"/>
          </p:cNvSpPr>
          <p:nvPr>
            <p:ph idx="1"/>
          </p:nvPr>
        </p:nvSpPr>
        <p:spPr>
          <a:xfrm>
            <a:off x="1268730" y="1550670"/>
            <a:ext cx="9551670" cy="4953000"/>
          </a:xfrm>
        </p:spPr>
        <p:txBody>
          <a:bodyPr/>
          <a:p>
            <a:pPr>
              <a:buFont typeface="Arial" panose="020B0604020202020204" pitchFamily="34" charset="0"/>
              <a:buChar char="•"/>
            </a:pPr>
            <a:r>
              <a:rPr lang="en-US" altLang="en-US" sz="2800">
                <a:latin typeface="Calibri" panose="020F0502020204030204" charset="0"/>
                <a:cs typeface="Calibri" panose="020F0502020204030204" charset="0"/>
              </a:rPr>
              <a:t>Performed exploratory analysis to understand salary distribution and patterns.</a:t>
            </a:r>
            <a:endParaRPr lang="en-US" altLang="en-US" sz="2800">
              <a:latin typeface="Calibri" panose="020F0502020204030204" charset="0"/>
              <a:cs typeface="Calibri" panose="020F0502020204030204" charset="0"/>
            </a:endParaRPr>
          </a:p>
          <a:p>
            <a:pPr>
              <a:buFont typeface="Arial" panose="020B0604020202020204" pitchFamily="34" charset="0"/>
              <a:buChar char="•"/>
            </a:pPr>
            <a:r>
              <a:rPr lang="en-US" altLang="en-US" sz="2800">
                <a:latin typeface="Calibri" panose="020F0502020204030204" charset="0"/>
                <a:cs typeface="Calibri" panose="020F0502020204030204" charset="0"/>
              </a:rPr>
              <a:t>Analyzed salary components such as BasePay, OvertimePay, and Benefits.</a:t>
            </a:r>
            <a:endParaRPr lang="en-US" altLang="en-US" sz="2800">
              <a:latin typeface="Calibri" panose="020F0502020204030204" charset="0"/>
              <a:cs typeface="Calibri" panose="020F0502020204030204" charset="0"/>
            </a:endParaRPr>
          </a:p>
          <a:p>
            <a:pPr>
              <a:buFont typeface="Arial" panose="020B0604020202020204" pitchFamily="34" charset="0"/>
              <a:buChar char="•"/>
            </a:pPr>
            <a:r>
              <a:rPr lang="en-US" altLang="en-US" sz="2800">
                <a:latin typeface="Calibri" panose="020F0502020204030204" charset="0"/>
                <a:cs typeface="Calibri" panose="020F0502020204030204" charset="0"/>
              </a:rPr>
              <a:t>Visualized salary trends across different job roles and years.</a:t>
            </a:r>
            <a:endParaRPr lang="en-US" altLang="en-US" sz="2800">
              <a:latin typeface="Calibri" panose="020F0502020204030204" charset="0"/>
              <a:cs typeface="Calibri" panose="020F0502020204030204" charset="0"/>
            </a:endParaRPr>
          </a:p>
          <a:p>
            <a:pPr>
              <a:buFont typeface="Arial" panose="020B0604020202020204" pitchFamily="34" charset="0"/>
              <a:buChar char="•"/>
            </a:pPr>
            <a:r>
              <a:rPr lang="en-US" altLang="en-US" sz="2800">
                <a:latin typeface="Calibri" panose="020F0502020204030204" charset="0"/>
                <a:cs typeface="Calibri" panose="020F0502020204030204" charset="0"/>
              </a:rPr>
              <a:t>Identified key patterns, variations, and relationships in the data.</a:t>
            </a:r>
            <a:endParaRPr lang="en-US" altLang="en-US" sz="2800">
              <a:latin typeface="Calibri" panose="020F0502020204030204" charset="0"/>
              <a:cs typeface="Calibri" panose="020F050202020403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l"/>
            <a:r>
              <a:rPr lang="en-IN" altLang="en-US" sz="4000" b="1">
                <a:solidFill>
                  <a:schemeClr val="tx1"/>
                </a:solidFill>
                <a:effectLst/>
                <a:latin typeface="Calibri" panose="020F0502020204030204" charset="0"/>
                <a:cs typeface="Calibri" panose="020F0502020204030204" charset="0"/>
              </a:rPr>
              <a:t>1. </a:t>
            </a:r>
            <a:r>
              <a:rPr lang="en-US" altLang="en-US" sz="4000" b="1">
                <a:solidFill>
                  <a:schemeClr val="tx1"/>
                </a:solidFill>
                <a:effectLst/>
                <a:latin typeface="Calibri" panose="020F0502020204030204" charset="0"/>
                <a:cs typeface="Calibri" panose="020F0502020204030204" charset="0"/>
              </a:rPr>
              <a:t>Distribution of Total Pay Benefits</a:t>
            </a:r>
            <a:endParaRPr lang="en-US" altLang="en-US" sz="4000" b="1">
              <a:solidFill>
                <a:schemeClr val="tx1"/>
              </a:solidFill>
              <a:effectLst/>
              <a:latin typeface="Calibri" panose="020F0502020204030204" charset="0"/>
              <a:cs typeface="Calibri" panose="020F0502020204030204" charset="0"/>
            </a:endParaRPr>
          </a:p>
        </p:txBody>
      </p:sp>
      <p:pic>
        <p:nvPicPr>
          <p:cNvPr id="10" name="Content Placeholder 9" descr="output  1"/>
          <p:cNvPicPr>
            <a:picLocks noChangeAspect="1"/>
          </p:cNvPicPr>
          <p:nvPr>
            <p:ph idx="1"/>
          </p:nvPr>
        </p:nvPicPr>
        <p:blipFill>
          <a:blip r:embed="rId1"/>
          <a:stretch>
            <a:fillRect/>
          </a:stretch>
        </p:blipFill>
        <p:spPr>
          <a:xfrm>
            <a:off x="1775460" y="1022985"/>
            <a:ext cx="7903845" cy="51911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109980" y="489585"/>
            <a:ext cx="10559415" cy="582930"/>
          </a:xfrm>
        </p:spPr>
        <p:txBody>
          <a:bodyPr/>
          <a:p>
            <a:r>
              <a:rPr lang="en-IN" altLang="en-US" sz="4000">
                <a:latin typeface="Calibri" panose="020F0502020204030204" charset="0"/>
                <a:cs typeface="Calibri" panose="020F0502020204030204" charset="0"/>
              </a:rPr>
              <a:t>Key Insights:</a:t>
            </a:r>
            <a:endParaRPr lang="en-IN" altLang="en-US" sz="4000">
              <a:latin typeface="Calibri" panose="020F0502020204030204" charset="0"/>
              <a:cs typeface="Calibri" panose="020F0502020204030204" charset="0"/>
            </a:endParaRPr>
          </a:p>
        </p:txBody>
      </p:sp>
      <p:sp>
        <p:nvSpPr>
          <p:cNvPr id="3" name="Content Placeholder 2"/>
          <p:cNvSpPr>
            <a:spLocks noGrp="1"/>
          </p:cNvSpPr>
          <p:nvPr>
            <p:ph idx="1"/>
          </p:nvPr>
        </p:nvSpPr>
        <p:spPr>
          <a:xfrm>
            <a:off x="1110615" y="1570355"/>
            <a:ext cx="9420225" cy="4953000"/>
          </a:xfrm>
        </p:spPr>
        <p:txBody>
          <a:bodyPr/>
          <a:p>
            <a:pPr>
              <a:buFont typeface="Arial" panose="020B0604020202020204" pitchFamily="34" charset="0"/>
              <a:buChar char="•"/>
            </a:pPr>
            <a:r>
              <a:rPr lang="en-IN" altLang="en-US">
                <a:latin typeface="Calibri" panose="020F0502020204030204" charset="0"/>
                <a:cs typeface="Calibri" panose="020F0502020204030204" charset="0"/>
              </a:rPr>
              <a:t>Most employees fall in the low to mid salary range</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Very few employees earn extremely high total pay</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Salary distribution is highly right-skewed</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High compensation is concentrated among limited roles</a:t>
            </a:r>
            <a:endParaRPr lang="en-IN" altLang="en-US">
              <a:latin typeface="Calibri" panose="020F0502020204030204" charset="0"/>
              <a:cs typeface="Calibri" panose="020F05020202040302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sz="4000" b="1">
                <a:latin typeface="Calibri" panose="020F0502020204030204" charset="0"/>
                <a:cs typeface="Calibri" panose="020F0502020204030204" charset="0"/>
              </a:rPr>
              <a:t>2. </a:t>
            </a:r>
            <a:r>
              <a:rPr lang="en-US" altLang="en-US" sz="4000" b="1">
                <a:latin typeface="Calibri" panose="020F0502020204030204" charset="0"/>
                <a:cs typeface="Calibri" panose="020F0502020204030204" charset="0"/>
              </a:rPr>
              <a:t>Top 10 Highest Paying Job Titles</a:t>
            </a:r>
            <a:endParaRPr lang="en-US" altLang="en-US" sz="4000" b="1">
              <a:latin typeface="Calibri" panose="020F0502020204030204" charset="0"/>
              <a:cs typeface="Calibri" panose="020F0502020204030204" charset="0"/>
            </a:endParaRPr>
          </a:p>
        </p:txBody>
      </p:sp>
      <p:pic>
        <p:nvPicPr>
          <p:cNvPr id="4" name="Content Placeholder 3" descr="output 2"/>
          <p:cNvPicPr>
            <a:picLocks noChangeAspect="1"/>
          </p:cNvPicPr>
          <p:nvPr>
            <p:ph idx="1"/>
          </p:nvPr>
        </p:nvPicPr>
        <p:blipFill>
          <a:blip r:embed="rId1"/>
          <a:stretch>
            <a:fillRect/>
          </a:stretch>
        </p:blipFill>
        <p:spPr>
          <a:xfrm>
            <a:off x="367030" y="988060"/>
            <a:ext cx="11215370" cy="48818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65835" y="537845"/>
            <a:ext cx="10616565" cy="582930"/>
          </a:xfrm>
        </p:spPr>
        <p:txBody>
          <a:bodyPr/>
          <a:p>
            <a:r>
              <a:rPr lang="en-IN" altLang="en-US" sz="4000">
                <a:latin typeface="Calibri" panose="020F0502020204030204" charset="0"/>
                <a:cs typeface="Calibri" panose="020F0502020204030204" charset="0"/>
              </a:rPr>
              <a:t>Key Insights:</a:t>
            </a:r>
            <a:endParaRPr lang="en-IN" altLang="en-US" sz="4000">
              <a:latin typeface="Calibri" panose="020F0502020204030204" charset="0"/>
              <a:cs typeface="Calibri" panose="020F0502020204030204" charset="0"/>
            </a:endParaRPr>
          </a:p>
        </p:txBody>
      </p:sp>
      <p:sp>
        <p:nvSpPr>
          <p:cNvPr id="3" name="Content Placeholder 2"/>
          <p:cNvSpPr>
            <a:spLocks noGrp="1"/>
          </p:cNvSpPr>
          <p:nvPr>
            <p:ph idx="1"/>
          </p:nvPr>
        </p:nvSpPr>
        <p:spPr>
          <a:xfrm>
            <a:off x="965835" y="1609090"/>
            <a:ext cx="9979660" cy="4953000"/>
          </a:xfrm>
        </p:spPr>
        <p:txBody>
          <a:bodyPr/>
          <a:p>
            <a:pPr>
              <a:buFont typeface="Arial" panose="020B0604020202020204" pitchFamily="34" charset="0"/>
              <a:buChar char="•"/>
            </a:pPr>
            <a:r>
              <a:rPr lang="en-IN" altLang="en-US">
                <a:latin typeface="Calibri" panose="020F0502020204030204" charset="0"/>
                <a:cs typeface="Calibri" panose="020F0502020204030204" charset="0"/>
              </a:rPr>
              <a:t>Executive and senior leadership roles dominate top salaries</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Chief investment Officer has the highest average pay</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Healthcare and public safety leadership roles are highly paid</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Higher responsibility roles receive significantly higher compensation</a:t>
            </a:r>
            <a:endParaRPr lang="en-IN" altLang="en-US">
              <a:latin typeface="Calibri" panose="020F0502020204030204" charset="0"/>
              <a:cs typeface="Calibri" panose="020F05020202040302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4000" b="1">
                <a:latin typeface="Calibri" panose="020F0502020204030204" charset="0"/>
                <a:cs typeface="Calibri" panose="020F0502020204030204" charset="0"/>
              </a:rPr>
              <a:t>3. Salary Trend Over the Years</a:t>
            </a:r>
            <a:endParaRPr lang="en-US" altLang="en-US" sz="4000" b="1">
              <a:latin typeface="Calibri" panose="020F0502020204030204" charset="0"/>
              <a:cs typeface="Calibri" panose="020F0502020204030204" charset="0"/>
            </a:endParaRPr>
          </a:p>
        </p:txBody>
      </p:sp>
      <p:pic>
        <p:nvPicPr>
          <p:cNvPr id="4" name="Content Placeholder 3" descr="output 3"/>
          <p:cNvPicPr>
            <a:picLocks noChangeAspect="1"/>
          </p:cNvPicPr>
          <p:nvPr>
            <p:ph idx="1"/>
          </p:nvPr>
        </p:nvPicPr>
        <p:blipFill>
          <a:blip r:embed="rId1"/>
          <a:stretch>
            <a:fillRect/>
          </a:stretch>
        </p:blipFill>
        <p:spPr>
          <a:xfrm>
            <a:off x="1997710" y="943610"/>
            <a:ext cx="8197215"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24255" y="865505"/>
            <a:ext cx="10558145" cy="582930"/>
          </a:xfrm>
        </p:spPr>
        <p:txBody>
          <a:bodyPr/>
          <a:p>
            <a:r>
              <a:rPr lang="en-IN" altLang="en-US" sz="4000">
                <a:latin typeface="Calibri" panose="020F0502020204030204" charset="0"/>
                <a:cs typeface="Calibri" panose="020F0502020204030204" charset="0"/>
              </a:rPr>
              <a:t>Key Insights:</a:t>
            </a:r>
            <a:endParaRPr lang="en-IN" altLang="en-US" sz="4000">
              <a:latin typeface="Calibri" panose="020F0502020204030204" charset="0"/>
              <a:cs typeface="Calibri" panose="020F0502020204030204" charset="0"/>
            </a:endParaRPr>
          </a:p>
        </p:txBody>
      </p:sp>
      <p:sp>
        <p:nvSpPr>
          <p:cNvPr id="3" name="Content Placeholder 2"/>
          <p:cNvSpPr>
            <a:spLocks noGrp="1"/>
          </p:cNvSpPr>
          <p:nvPr>
            <p:ph idx="1"/>
          </p:nvPr>
        </p:nvSpPr>
        <p:spPr>
          <a:xfrm>
            <a:off x="1024255" y="2099945"/>
            <a:ext cx="9641205" cy="4490720"/>
          </a:xfrm>
        </p:spPr>
        <p:txBody>
          <a:bodyPr/>
          <a:p>
            <a:pPr>
              <a:buFont typeface="Arial" panose="020B0604020202020204" pitchFamily="34" charset="0"/>
              <a:buChar char="•"/>
            </a:pPr>
            <a:r>
              <a:rPr lang="en-IN" altLang="en-US"/>
              <a:t>Average salary increased significantly after 2011</a:t>
            </a:r>
            <a:endParaRPr lang="en-IN" altLang="en-US"/>
          </a:p>
          <a:p>
            <a:pPr>
              <a:buFont typeface="Arial" panose="020B0604020202020204" pitchFamily="34" charset="0"/>
              <a:buChar char="•"/>
            </a:pPr>
            <a:r>
              <a:rPr lang="en-IN" altLang="en-US"/>
              <a:t>Minor fluctuations observed during mid-years</a:t>
            </a:r>
            <a:endParaRPr lang="en-IN" altLang="en-US"/>
          </a:p>
          <a:p>
            <a:pPr>
              <a:buFont typeface="Arial" panose="020B0604020202020204" pitchFamily="34" charset="0"/>
              <a:buChar char="•"/>
            </a:pPr>
            <a:r>
              <a:rPr lang="en-IN" altLang="en-US"/>
              <a:t>Steady growth in salaries from 2016 onwards</a:t>
            </a:r>
            <a:endParaRPr lang="en-IN" altLang="en-US"/>
          </a:p>
          <a:p>
            <a:pPr>
              <a:buFont typeface="Arial" panose="020B0604020202020204" pitchFamily="34" charset="0"/>
              <a:buChar char="•"/>
            </a:pPr>
            <a:r>
              <a:rPr lang="en-IN" altLang="en-US"/>
              <a:t>Overall upward trend in employee compensation</a:t>
            </a:r>
            <a:endParaRPr lang="en-IN" altLang="en-US"/>
          </a:p>
          <a:p>
            <a:pPr marL="0" indent="0">
              <a:buFont typeface="Arial" panose="020B0604020202020204" pitchFamily="34" charset="0"/>
              <a:buNone/>
            </a:pPr>
            <a:endParaRPr lang="en-I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4000" b="1">
                <a:latin typeface="Calibri" panose="020F0502020204030204" charset="0"/>
                <a:cs typeface="Calibri" panose="020F0502020204030204" charset="0"/>
              </a:rPr>
              <a:t>4. Average Total Pay Over the Years</a:t>
            </a:r>
            <a:endParaRPr lang="en-US" altLang="en-US" sz="4000" b="1">
              <a:latin typeface="Calibri" panose="020F0502020204030204" charset="0"/>
              <a:cs typeface="Calibri" panose="020F0502020204030204" charset="0"/>
            </a:endParaRPr>
          </a:p>
        </p:txBody>
      </p:sp>
      <p:pic>
        <p:nvPicPr>
          <p:cNvPr id="4" name="Content Placeholder 3" descr="output  4"/>
          <p:cNvPicPr>
            <a:picLocks noChangeAspect="1"/>
          </p:cNvPicPr>
          <p:nvPr>
            <p:ph idx="1"/>
          </p:nvPr>
        </p:nvPicPr>
        <p:blipFill>
          <a:blip r:embed="rId1"/>
          <a:stretch>
            <a:fillRect/>
          </a:stretch>
        </p:blipFill>
        <p:spPr>
          <a:xfrm>
            <a:off x="1869440" y="957580"/>
            <a:ext cx="8453120" cy="52603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106805" y="773430"/>
            <a:ext cx="10556875" cy="582930"/>
          </a:xfrm>
        </p:spPr>
        <p:txBody>
          <a:bodyPr/>
          <a:p>
            <a:r>
              <a:rPr lang="en-IN" altLang="en-US" sz="4000">
                <a:latin typeface="Calibri" panose="020F0502020204030204" charset="0"/>
                <a:cs typeface="Calibri" panose="020F0502020204030204" charset="0"/>
              </a:rPr>
              <a:t>Key Insights:</a:t>
            </a:r>
            <a:endParaRPr lang="en-IN" altLang="en-US" sz="4000">
              <a:latin typeface="Calibri" panose="020F0502020204030204" charset="0"/>
              <a:cs typeface="Calibri" panose="020F0502020204030204" charset="0"/>
            </a:endParaRPr>
          </a:p>
        </p:txBody>
      </p:sp>
      <p:sp>
        <p:nvSpPr>
          <p:cNvPr id="3" name="Content Placeholder 2"/>
          <p:cNvSpPr>
            <a:spLocks noGrp="1"/>
          </p:cNvSpPr>
          <p:nvPr>
            <p:ph idx="1"/>
          </p:nvPr>
        </p:nvSpPr>
        <p:spPr>
          <a:xfrm>
            <a:off x="1106805" y="1804670"/>
            <a:ext cx="10475595" cy="4953000"/>
          </a:xfrm>
        </p:spPr>
        <p:txBody>
          <a:bodyPr/>
          <a:p>
            <a:pPr>
              <a:buFont typeface="Arial" panose="020B0604020202020204" pitchFamily="34" charset="0"/>
              <a:buChar char="•"/>
            </a:pPr>
            <a:r>
              <a:rPr lang="en-IN" altLang="en-US">
                <a:latin typeface="Calibri" panose="020F0502020204030204" charset="0"/>
                <a:cs typeface="Calibri" panose="020F0502020204030204" charset="0"/>
              </a:rPr>
              <a:t>Average total pay increased steadily over the years</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Small decline observed around 2014</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Strong salary growth after 2015</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Overall positive upward salary trend </a:t>
            </a:r>
            <a:endParaRPr lang="en-IN" altLang="en-US">
              <a:latin typeface="Calibri" panose="020F0502020204030204" charset="0"/>
              <a:cs typeface="Calibri" panose="020F05020202040302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4000" b="1">
                <a:latin typeface="Calibri" panose="020F0502020204030204" charset="0"/>
                <a:cs typeface="Calibri" panose="020F0502020204030204" charset="0"/>
              </a:rPr>
              <a:t>5. Salary Range by Job Title</a:t>
            </a:r>
            <a:endParaRPr lang="en-US" altLang="en-US" sz="4000" b="1">
              <a:latin typeface="Calibri" panose="020F0502020204030204" charset="0"/>
              <a:cs typeface="Calibri" panose="020F0502020204030204" charset="0"/>
            </a:endParaRPr>
          </a:p>
        </p:txBody>
      </p:sp>
      <p:pic>
        <p:nvPicPr>
          <p:cNvPr id="4" name="Content Placeholder 3" descr="output 5"/>
          <p:cNvPicPr>
            <a:picLocks noChangeAspect="1"/>
          </p:cNvPicPr>
          <p:nvPr>
            <p:ph idx="1"/>
          </p:nvPr>
        </p:nvPicPr>
        <p:blipFill>
          <a:blip r:embed="rId1"/>
          <a:stretch>
            <a:fillRect/>
          </a:stretch>
        </p:blipFill>
        <p:spPr>
          <a:xfrm>
            <a:off x="1123315" y="913765"/>
            <a:ext cx="9290685" cy="503047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44880" y="190500"/>
            <a:ext cx="10637520" cy="582930"/>
          </a:xfrm>
        </p:spPr>
        <p:txBody>
          <a:bodyPr/>
          <a:p>
            <a:r>
              <a:rPr lang="en-IN" altLang="en-US" sz="4000">
                <a:latin typeface="Calibri" panose="020F0502020204030204" charset="0"/>
                <a:cs typeface="Calibri" panose="020F0502020204030204" charset="0"/>
              </a:rPr>
              <a:t>Key Insights:</a:t>
            </a:r>
            <a:endParaRPr lang="en-IN" altLang="en-US" sz="4000">
              <a:latin typeface="Calibri" panose="020F0502020204030204" charset="0"/>
              <a:cs typeface="Calibri" panose="020F0502020204030204" charset="0"/>
            </a:endParaRPr>
          </a:p>
        </p:txBody>
      </p:sp>
      <p:sp>
        <p:nvSpPr>
          <p:cNvPr id="3" name="Content Placeholder 2"/>
          <p:cNvSpPr>
            <a:spLocks noGrp="1"/>
          </p:cNvSpPr>
          <p:nvPr>
            <p:ph idx="1"/>
          </p:nvPr>
        </p:nvSpPr>
        <p:spPr>
          <a:xfrm>
            <a:off x="944880" y="1174750"/>
            <a:ext cx="10637520" cy="4953000"/>
          </a:xfrm>
        </p:spPr>
        <p:txBody>
          <a:bodyPr/>
          <a:p>
            <a:pPr>
              <a:buFont typeface="Arial" panose="020B0604020202020204" pitchFamily="34" charset="0"/>
              <a:buChar char="•"/>
            </a:pPr>
            <a:r>
              <a:rPr lang="en-IN" altLang="en-US">
                <a:latin typeface="Calibri" panose="020F0502020204030204" charset="0"/>
                <a:cs typeface="Calibri" panose="020F0502020204030204" charset="0"/>
              </a:rPr>
              <a:t>Firefighters and Registered Nurses have higher median salaries</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Special Nurses show many highh-value outliers</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Transit Operators and Custodians earn Comparatively lower pay</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Salary variation differs significantly across job roles</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Presence of outliers indicates pay inequality within some roles</a:t>
            </a:r>
            <a:endParaRPr lang="en-IN" altLang="en-US">
              <a:latin typeface="Calibri" panose="020F0502020204030204" charset="0"/>
              <a:cs typeface="Calibri" panose="020F05020202040302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4000" b="1">
                <a:latin typeface="Calibri" panose="020F0502020204030204" charset="0"/>
                <a:cs typeface="Calibri" panose="020F0502020204030204" charset="0"/>
              </a:rPr>
              <a:t>6. Base Pay vs Total Compensation</a:t>
            </a:r>
            <a:endParaRPr lang="en-US" altLang="en-US" sz="4000" b="1">
              <a:latin typeface="Calibri" panose="020F0502020204030204" charset="0"/>
              <a:cs typeface="Calibri" panose="020F0502020204030204" charset="0"/>
            </a:endParaRPr>
          </a:p>
        </p:txBody>
      </p:sp>
      <p:sp>
        <p:nvSpPr>
          <p:cNvPr id="9" name="Content Placeholder 8"/>
          <p:cNvSpPr>
            <a:spLocks noGrp="1"/>
          </p:cNvSpPr>
          <p:nvPr>
            <p:ph sz="half" idx="1"/>
          </p:nvPr>
        </p:nvSpPr>
        <p:spPr>
          <a:xfrm>
            <a:off x="609600" y="1036955"/>
            <a:ext cx="5651500" cy="5090795"/>
          </a:xfrm>
        </p:spPr>
        <p:txBody>
          <a:bodyPr/>
          <a:p>
            <a:pPr marL="0" indent="0">
              <a:buNone/>
            </a:pPr>
            <a:r>
              <a:rPr lang="en-IN" altLang="en-US">
                <a:solidFill>
                  <a:schemeClr val="tx1"/>
                </a:solidFill>
                <a:effectLst>
                  <a:outerShdw blurRad="38100" dist="19050" dir="2700000" algn="tl" rotWithShape="0">
                    <a:schemeClr val="dk1">
                      <a:alpha val="40000"/>
                    </a:schemeClr>
                  </a:outerShdw>
                </a:effectLst>
                <a:latin typeface="Calibri" panose="020F0502020204030204" charset="0"/>
                <a:cs typeface="Calibri" panose="020F0502020204030204" charset="0"/>
              </a:rPr>
              <a:t>Key Insights:</a:t>
            </a:r>
            <a:endParaRPr lang="en-IN" altLang="en-US">
              <a:solidFill>
                <a:schemeClr val="tx1"/>
              </a:solidFill>
              <a:effectLst>
                <a:outerShdw blurRad="38100" dist="19050" dir="2700000" algn="tl" rotWithShape="0">
                  <a:schemeClr val="dk1">
                    <a:alpha val="40000"/>
                  </a:schemeClr>
                </a:outerShdw>
              </a:effectLst>
              <a:latin typeface="Calibri" panose="020F0502020204030204" charset="0"/>
              <a:cs typeface="Calibri" panose="020F0502020204030204" charset="0"/>
            </a:endParaRPr>
          </a:p>
          <a:p>
            <a:pPr>
              <a:buFont typeface="Arial" panose="020B0604020202020204" pitchFamily="34" charset="0"/>
              <a:buChar char="•"/>
            </a:pPr>
            <a:r>
              <a:rPr lang="en-IN" altLang="en-US" sz="2800">
                <a:latin typeface="Calibri" panose="020F0502020204030204" charset="0"/>
                <a:cs typeface="Calibri" panose="020F0502020204030204" charset="0"/>
              </a:rPr>
              <a:t>Total Pay Benefits are much higher than Base Pay</a:t>
            </a:r>
            <a:endParaRPr lang="en-IN" altLang="en-US" sz="2800">
              <a:latin typeface="Calibri" panose="020F0502020204030204" charset="0"/>
              <a:cs typeface="Calibri" panose="020F0502020204030204" charset="0"/>
            </a:endParaRPr>
          </a:p>
          <a:p>
            <a:pPr>
              <a:buFont typeface="Arial" panose="020B0604020202020204" pitchFamily="34" charset="0"/>
              <a:buChar char="•"/>
            </a:pPr>
            <a:r>
              <a:rPr lang="en-IN" altLang="en-US" sz="2800">
                <a:latin typeface="Calibri" panose="020F0502020204030204" charset="0"/>
                <a:cs typeface="Calibri" panose="020F0502020204030204" charset="0"/>
              </a:rPr>
              <a:t>Benefits &amp; additional pay components play a major role</a:t>
            </a:r>
            <a:endParaRPr lang="en-IN" altLang="en-US" sz="2800">
              <a:latin typeface="Calibri" panose="020F0502020204030204" charset="0"/>
              <a:cs typeface="Calibri" panose="020F0502020204030204" charset="0"/>
            </a:endParaRPr>
          </a:p>
          <a:p>
            <a:pPr>
              <a:buFont typeface="Arial" panose="020B0604020202020204" pitchFamily="34" charset="0"/>
              <a:buChar char="•"/>
            </a:pPr>
            <a:r>
              <a:rPr lang="en-IN" altLang="en-US" sz="2800">
                <a:latin typeface="Calibri" panose="020F0502020204030204" charset="0"/>
                <a:cs typeface="Calibri" panose="020F0502020204030204" charset="0"/>
              </a:rPr>
              <a:t>Base salary alone does not reflect actual employess earnings</a:t>
            </a:r>
            <a:endParaRPr lang="en-IN" altLang="en-US" sz="2800">
              <a:latin typeface="Calibri" panose="020F0502020204030204" charset="0"/>
              <a:cs typeface="Calibri" panose="020F0502020204030204" charset="0"/>
            </a:endParaRPr>
          </a:p>
          <a:p>
            <a:pPr>
              <a:buFont typeface="Arial" panose="020B0604020202020204" pitchFamily="34" charset="0"/>
              <a:buChar char="•"/>
            </a:pPr>
            <a:r>
              <a:rPr lang="en-IN" altLang="en-US" sz="2800">
                <a:latin typeface="Calibri" panose="020F0502020204030204" charset="0"/>
                <a:cs typeface="Calibri" panose="020F0502020204030204" charset="0"/>
              </a:rPr>
              <a:t>Compensation structure includes multiple earnning components</a:t>
            </a:r>
            <a:endParaRPr lang="en-IN" altLang="en-US" sz="2800">
              <a:latin typeface="Calibri" panose="020F0502020204030204" charset="0"/>
              <a:cs typeface="Calibri" panose="020F0502020204030204" charset="0"/>
            </a:endParaRPr>
          </a:p>
        </p:txBody>
      </p:sp>
      <p:pic>
        <p:nvPicPr>
          <p:cNvPr id="11" name="Content Placeholder 10" descr="output 6"/>
          <p:cNvPicPr>
            <a:picLocks noChangeAspect="1"/>
          </p:cNvPicPr>
          <p:nvPr>
            <p:ph sz="half" idx="2"/>
          </p:nvPr>
        </p:nvPicPr>
        <p:blipFill>
          <a:blip r:embed="rId1"/>
          <a:stretch>
            <a:fillRect/>
          </a:stretch>
        </p:blipFill>
        <p:spPr>
          <a:xfrm>
            <a:off x="6407150" y="1036955"/>
            <a:ext cx="5459730" cy="489648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4000" b="1">
                <a:latin typeface="Calibri" panose="020F0502020204030204" charset="0"/>
                <a:cs typeface="Calibri" panose="020F0502020204030204" charset="0"/>
              </a:rPr>
              <a:t>7. Employees Receiving Overtime Pay</a:t>
            </a:r>
            <a:endParaRPr lang="en-US" altLang="en-US" sz="4000" b="1">
              <a:latin typeface="Calibri" panose="020F0502020204030204" charset="0"/>
              <a:cs typeface="Calibri" panose="020F0502020204030204" charset="0"/>
            </a:endParaRPr>
          </a:p>
        </p:txBody>
      </p:sp>
      <p:sp>
        <p:nvSpPr>
          <p:cNvPr id="5" name="Content Placeholder 4"/>
          <p:cNvSpPr>
            <a:spLocks noGrp="1"/>
          </p:cNvSpPr>
          <p:nvPr>
            <p:ph sz="half" idx="1"/>
          </p:nvPr>
        </p:nvSpPr>
        <p:spPr>
          <a:xfrm>
            <a:off x="609600" y="1174750"/>
            <a:ext cx="6284595" cy="4953000"/>
          </a:xfrm>
        </p:spPr>
        <p:txBody>
          <a:bodyPr/>
          <a:p>
            <a:pPr marL="0" indent="0">
              <a:buNone/>
            </a:pPr>
            <a:r>
              <a:rPr lang="en-IN" altLang="en-US">
                <a:solidFill>
                  <a:schemeClr val="tx1"/>
                </a:solidFill>
                <a:effectLst>
                  <a:outerShdw blurRad="38100" dist="19050" dir="2700000" algn="tl" rotWithShape="0">
                    <a:schemeClr val="dk1">
                      <a:alpha val="40000"/>
                    </a:schemeClr>
                  </a:outerShdw>
                </a:effectLst>
                <a:latin typeface="Calibri" panose="020F0502020204030204" charset="0"/>
                <a:cs typeface="Calibri" panose="020F0502020204030204" charset="0"/>
              </a:rPr>
              <a:t>Key Insights:</a:t>
            </a:r>
            <a:endParaRPr lang="en-IN" altLang="en-US">
              <a:solidFill>
                <a:schemeClr val="tx1"/>
              </a:solidFill>
              <a:effectLst>
                <a:outerShdw blurRad="38100" dist="19050" dir="2700000" algn="tl" rotWithShape="0">
                  <a:schemeClr val="dk1">
                    <a:alpha val="40000"/>
                  </a:schemeClr>
                </a:outerShdw>
              </a:effectLst>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Nearly half of employees receive overtime pay</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Slightly more employees do not receive overtime compensation</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Overtime pay is role-dependent</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Indicates variation in workload &amp; workig hours</a:t>
            </a:r>
            <a:endParaRPr lang="en-IN" altLang="en-US">
              <a:latin typeface="Calibri" panose="020F0502020204030204" charset="0"/>
              <a:cs typeface="Calibri" panose="020F0502020204030204" charset="0"/>
            </a:endParaRPr>
          </a:p>
        </p:txBody>
      </p:sp>
      <p:pic>
        <p:nvPicPr>
          <p:cNvPr id="7" name="Content Placeholder 6" descr="output 7"/>
          <p:cNvPicPr>
            <a:picLocks noChangeAspect="1"/>
          </p:cNvPicPr>
          <p:nvPr>
            <p:ph sz="half" idx="2"/>
          </p:nvPr>
        </p:nvPicPr>
        <p:blipFill>
          <a:blip r:embed="rId1"/>
          <a:stretch>
            <a:fillRect/>
          </a:stretch>
        </p:blipFill>
        <p:spPr>
          <a:xfrm>
            <a:off x="6894195" y="1853565"/>
            <a:ext cx="5006975" cy="303593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4000" b="1">
                <a:latin typeface="Calibri" panose="020F0502020204030204" charset="0"/>
                <a:cs typeface="Calibri" panose="020F0502020204030204" charset="0"/>
              </a:rPr>
              <a:t>8. Total Salary Expenditure by Year</a:t>
            </a:r>
            <a:endParaRPr lang="en-US" altLang="en-US" sz="4000" b="1">
              <a:latin typeface="Calibri" panose="020F0502020204030204" charset="0"/>
              <a:cs typeface="Calibri" panose="020F0502020204030204" charset="0"/>
            </a:endParaRPr>
          </a:p>
        </p:txBody>
      </p:sp>
      <p:pic>
        <p:nvPicPr>
          <p:cNvPr id="4" name="Content Placeholder 3" descr="output 8"/>
          <p:cNvPicPr>
            <a:picLocks noChangeAspect="1"/>
          </p:cNvPicPr>
          <p:nvPr>
            <p:ph idx="1"/>
          </p:nvPr>
        </p:nvPicPr>
        <p:blipFill>
          <a:blip r:embed="rId1"/>
          <a:stretch>
            <a:fillRect/>
          </a:stretch>
        </p:blipFill>
        <p:spPr>
          <a:xfrm>
            <a:off x="2213610" y="1189990"/>
            <a:ext cx="7765415" cy="501332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25525" y="617220"/>
            <a:ext cx="10556875" cy="582930"/>
          </a:xfrm>
        </p:spPr>
        <p:txBody>
          <a:bodyPr/>
          <a:p>
            <a:r>
              <a:rPr lang="en-IN" altLang="en-US" sz="4000">
                <a:latin typeface="Calibri" panose="020F0502020204030204" charset="0"/>
                <a:cs typeface="Calibri" panose="020F0502020204030204" charset="0"/>
              </a:rPr>
              <a:t>Key Insights:</a:t>
            </a:r>
            <a:endParaRPr lang="en-IN" altLang="en-US" sz="4000">
              <a:latin typeface="Calibri" panose="020F0502020204030204" charset="0"/>
              <a:cs typeface="Calibri" panose="020F0502020204030204" charset="0"/>
            </a:endParaRPr>
          </a:p>
        </p:txBody>
      </p:sp>
      <p:sp>
        <p:nvSpPr>
          <p:cNvPr id="3" name="Content Placeholder 2"/>
          <p:cNvSpPr>
            <a:spLocks noGrp="1"/>
          </p:cNvSpPr>
          <p:nvPr>
            <p:ph idx="1"/>
          </p:nvPr>
        </p:nvSpPr>
        <p:spPr>
          <a:xfrm>
            <a:off x="964565" y="1560830"/>
            <a:ext cx="10170795" cy="4953000"/>
          </a:xfrm>
        </p:spPr>
        <p:txBody>
          <a:bodyPr/>
          <a:p>
            <a:pPr>
              <a:buFont typeface="Arial" panose="020B0604020202020204" pitchFamily="34" charset="0"/>
              <a:buChar char="•"/>
            </a:pPr>
            <a:r>
              <a:rPr lang="en-IN" altLang="en-US">
                <a:latin typeface="Calibri" panose="020F0502020204030204" charset="0"/>
                <a:cs typeface="Calibri" panose="020F0502020204030204" charset="0"/>
              </a:rPr>
              <a:t>Total salary expenditure increases year by year</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Lowest expenditure observed in the intial year</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Continuous growth after 2014</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Indicate rising workforce cost and compensation growth</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Reflects organizational expansion and pay revisions</a:t>
            </a:r>
            <a:endParaRPr lang="en-IN" altLang="en-US">
              <a:latin typeface="Calibri" panose="020F0502020204030204" charset="0"/>
              <a:cs typeface="Calibri" panose="020F050202020403020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4000" b="1">
                <a:latin typeface="Calibri" panose="020F0502020204030204" charset="0"/>
                <a:cs typeface="Calibri" panose="020F0502020204030204" charset="0"/>
              </a:rPr>
              <a:t>9. Benefits Distribution</a:t>
            </a:r>
            <a:endParaRPr lang="en-US" altLang="en-US" sz="4000" b="1">
              <a:latin typeface="Calibri" panose="020F0502020204030204" charset="0"/>
              <a:cs typeface="Calibri" panose="020F0502020204030204" charset="0"/>
            </a:endParaRPr>
          </a:p>
        </p:txBody>
      </p:sp>
      <p:pic>
        <p:nvPicPr>
          <p:cNvPr id="4" name="Content Placeholder 3" descr="output 9"/>
          <p:cNvPicPr>
            <a:picLocks noChangeAspect="1"/>
          </p:cNvPicPr>
          <p:nvPr>
            <p:ph idx="1"/>
          </p:nvPr>
        </p:nvPicPr>
        <p:blipFill>
          <a:blip r:embed="rId1"/>
          <a:stretch>
            <a:fillRect/>
          </a:stretch>
        </p:blipFill>
        <p:spPr>
          <a:xfrm>
            <a:off x="2108200" y="868680"/>
            <a:ext cx="7820025" cy="512127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46480" y="773430"/>
            <a:ext cx="10535920" cy="582930"/>
          </a:xfrm>
        </p:spPr>
        <p:txBody>
          <a:bodyPr/>
          <a:p>
            <a:r>
              <a:rPr lang="en-IN" altLang="en-US" sz="4000">
                <a:latin typeface="Calibri" panose="020F0502020204030204" charset="0"/>
                <a:cs typeface="Calibri" panose="020F0502020204030204" charset="0"/>
              </a:rPr>
              <a:t>Key Insights:</a:t>
            </a:r>
            <a:endParaRPr lang="en-IN" altLang="en-US" sz="4000">
              <a:latin typeface="Calibri" panose="020F0502020204030204" charset="0"/>
              <a:cs typeface="Calibri" panose="020F0502020204030204" charset="0"/>
            </a:endParaRPr>
          </a:p>
        </p:txBody>
      </p:sp>
      <p:sp>
        <p:nvSpPr>
          <p:cNvPr id="3" name="Content Placeholder 2"/>
          <p:cNvSpPr>
            <a:spLocks noGrp="1"/>
          </p:cNvSpPr>
          <p:nvPr>
            <p:ph idx="1"/>
          </p:nvPr>
        </p:nvSpPr>
        <p:spPr>
          <a:xfrm>
            <a:off x="1046480" y="1652270"/>
            <a:ext cx="10535920" cy="4953000"/>
          </a:xfrm>
        </p:spPr>
        <p:txBody>
          <a:bodyPr/>
          <a:p>
            <a:pPr>
              <a:buFont typeface="Arial" panose="020B0604020202020204" pitchFamily="34" charset="0"/>
              <a:buChar char="•"/>
            </a:pPr>
            <a:r>
              <a:rPr lang="en-IN" altLang="en-US">
                <a:latin typeface="Calibri" panose="020F0502020204030204" charset="0"/>
                <a:cs typeface="Calibri" panose="020F0502020204030204" charset="0"/>
              </a:rPr>
              <a:t>Most employees receive low to moderate benefits</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Benefits distribution is right-skewed</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Few employees receive very high benefits</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Presence of outliers at higher benefit values</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Indicates variation in benefits across job roles</a:t>
            </a:r>
            <a:endParaRPr lang="en-IN" altLang="en-US">
              <a:latin typeface="Calibri" panose="020F0502020204030204" charset="0"/>
              <a:cs typeface="Calibri" panose="020F050202020403020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5965" y="318135"/>
            <a:ext cx="10972800" cy="1225550"/>
          </a:xfrm>
        </p:spPr>
        <p:txBody>
          <a:bodyPr/>
          <a:p>
            <a:pPr algn="ctr"/>
            <a:r>
              <a:rPr lang="en-US" altLang="en-US" sz="4000" b="1">
                <a:latin typeface="Calibri" panose="020F0502020204030204" charset="0"/>
                <a:cs typeface="Calibri" panose="020F0502020204030204" charset="0"/>
              </a:rPr>
              <a:t>10. Distribution of BasePay, OvertimePay, and</a:t>
            </a:r>
            <a:br>
              <a:rPr lang="en-US" altLang="en-US" sz="4000" b="1">
                <a:latin typeface="Calibri" panose="020F0502020204030204" charset="0"/>
                <a:cs typeface="Calibri" panose="020F0502020204030204" charset="0"/>
              </a:rPr>
            </a:br>
            <a:r>
              <a:rPr lang="en-US" altLang="en-US" sz="4000" b="1">
                <a:latin typeface="Calibri" panose="020F0502020204030204" charset="0"/>
                <a:cs typeface="Calibri" panose="020F0502020204030204" charset="0"/>
              </a:rPr>
              <a:t> </a:t>
            </a:r>
            <a:r>
              <a:rPr lang="en-IN" altLang="en-US" sz="4000" b="1">
                <a:latin typeface="Calibri" panose="020F0502020204030204" charset="0"/>
                <a:cs typeface="Calibri" panose="020F0502020204030204" charset="0"/>
              </a:rPr>
              <a:t>OtherPay</a:t>
            </a:r>
            <a:endParaRPr lang="en-IN" altLang="en-US" sz="4000" b="1">
              <a:latin typeface="Calibri" panose="020F0502020204030204" charset="0"/>
              <a:cs typeface="Calibri" panose="020F0502020204030204" charset="0"/>
            </a:endParaRPr>
          </a:p>
        </p:txBody>
      </p:sp>
      <p:pic>
        <p:nvPicPr>
          <p:cNvPr id="4" name="Content Placeholder 3" descr="output"/>
          <p:cNvPicPr>
            <a:picLocks noChangeAspect="1"/>
          </p:cNvPicPr>
          <p:nvPr>
            <p:ph idx="1"/>
          </p:nvPr>
        </p:nvPicPr>
        <p:blipFill>
          <a:blip r:embed="rId1"/>
          <a:stretch>
            <a:fillRect/>
          </a:stretch>
        </p:blipFill>
        <p:spPr>
          <a:xfrm>
            <a:off x="205105" y="1836420"/>
            <a:ext cx="11811000" cy="431863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64565" y="307340"/>
            <a:ext cx="10719435" cy="582930"/>
          </a:xfrm>
        </p:spPr>
        <p:txBody>
          <a:bodyPr/>
          <a:p>
            <a:r>
              <a:rPr lang="en-IN" altLang="en-US" sz="4000">
                <a:latin typeface="Calibri" panose="020F0502020204030204" charset="0"/>
                <a:cs typeface="Calibri" panose="020F0502020204030204" charset="0"/>
              </a:rPr>
              <a:t>Key Insights:</a:t>
            </a:r>
            <a:endParaRPr lang="en-IN" altLang="en-US" sz="4000">
              <a:latin typeface="Calibri" panose="020F0502020204030204" charset="0"/>
              <a:cs typeface="Calibri" panose="020F0502020204030204" charset="0"/>
            </a:endParaRPr>
          </a:p>
        </p:txBody>
      </p:sp>
      <p:sp>
        <p:nvSpPr>
          <p:cNvPr id="3" name="Content Placeholder 2"/>
          <p:cNvSpPr>
            <a:spLocks noGrp="1"/>
          </p:cNvSpPr>
          <p:nvPr>
            <p:ph idx="1"/>
          </p:nvPr>
        </p:nvSpPr>
        <p:spPr>
          <a:xfrm>
            <a:off x="964565" y="1195070"/>
            <a:ext cx="10617835" cy="4953000"/>
          </a:xfrm>
        </p:spPr>
        <p:txBody>
          <a:bodyPr/>
          <a:p>
            <a:pPr>
              <a:buFont typeface="Wingdings" panose="05000000000000000000" charset="0"/>
              <a:buChar char="ü"/>
            </a:pPr>
            <a:r>
              <a:rPr lang="en-IN" altLang="en-US">
                <a:latin typeface="Calibri" panose="020F0502020204030204" charset="0"/>
                <a:cs typeface="Calibri" panose="020F0502020204030204" charset="0"/>
              </a:rPr>
              <a:t>Distribution of BasePay:</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Majority of employees earn low to mid-level salaries</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Few employees receive very high base pay</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Distribution is right-skewed</a:t>
            </a:r>
            <a:endParaRPr lang="en-IN" altLang="en-US">
              <a:latin typeface="Calibri" panose="020F0502020204030204" charset="0"/>
              <a:cs typeface="Calibri" panose="020F0502020204030204" charset="0"/>
            </a:endParaRPr>
          </a:p>
          <a:p>
            <a:pPr>
              <a:buFont typeface="Wingdings" panose="05000000000000000000" charset="0"/>
              <a:buChar char="ü"/>
            </a:pPr>
            <a:r>
              <a:rPr lang="en-IN" altLang="en-US">
                <a:latin typeface="Calibri" panose="020F0502020204030204" charset="0"/>
                <a:cs typeface="Calibri" panose="020F0502020204030204" charset="0"/>
              </a:rPr>
              <a:t>Distribution of OvertimePay:</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Most employees receive little or no overtime pay</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Very few employees earn high overtime</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OvertimePay is highly uneven</a:t>
            </a:r>
            <a:endParaRPr lang="en-IN" altLang="en-US">
              <a:latin typeface="Calibri" panose="020F0502020204030204" charset="0"/>
              <a:cs typeface="Calibri" panose="020F0502020204030204" charset="0"/>
            </a:endParaRPr>
          </a:p>
          <a:p>
            <a:pPr>
              <a:buFont typeface="Arial" panose="020B0604020202020204" pitchFamily="34" charset="0"/>
              <a:buChar char="•"/>
            </a:pPr>
            <a:endParaRPr lang="en-IN" altLang="en-US"/>
          </a:p>
          <a:p>
            <a:pPr marL="0" indent="0">
              <a:buFont typeface="Arial" panose="020B0604020202020204" pitchFamily="34" charset="0"/>
              <a:buNone/>
            </a:pPr>
            <a:endParaRPr lang="en-I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itle 6"/>
          <p:cNvSpPr>
            <a:spLocks noGrp="1"/>
          </p:cNvSpPr>
          <p:nvPr>
            <p:ph type="title"/>
          </p:nvPr>
        </p:nvSpPr>
        <p:spPr>
          <a:xfrm>
            <a:off x="1148080" y="546100"/>
            <a:ext cx="10972800" cy="582613"/>
          </a:xfrm>
        </p:spPr>
        <p:txBody>
          <a:bodyPr/>
          <a:p>
            <a:r>
              <a:rPr lang="en-IN" altLang="en-US" sz="4000">
                <a:latin typeface="Calibri" panose="020F0502020204030204" charset="0"/>
                <a:cs typeface="Calibri" panose="020F0502020204030204" charset="0"/>
              </a:rPr>
              <a:t>Key Insights:</a:t>
            </a:r>
            <a:endParaRPr lang="en-IN" altLang="en-US" sz="4000">
              <a:latin typeface="Calibri" panose="020F0502020204030204" charset="0"/>
              <a:cs typeface="Calibri" panose="020F0502020204030204" charset="0"/>
            </a:endParaRPr>
          </a:p>
        </p:txBody>
      </p:sp>
      <p:sp>
        <p:nvSpPr>
          <p:cNvPr id="8" name="Content Placeholder 7"/>
          <p:cNvSpPr>
            <a:spLocks noGrp="1"/>
          </p:cNvSpPr>
          <p:nvPr>
            <p:ph idx="1"/>
          </p:nvPr>
        </p:nvSpPr>
        <p:spPr>
          <a:xfrm>
            <a:off x="1148080" y="1662430"/>
            <a:ext cx="8971280" cy="4953000"/>
          </a:xfrm>
        </p:spPr>
        <p:txBody>
          <a:bodyPr/>
          <a:p>
            <a:pPr>
              <a:buFont typeface="Wingdings" panose="05000000000000000000" charset="0"/>
              <a:buChar char="ü"/>
            </a:pPr>
            <a:r>
              <a:rPr lang="en-IN" altLang="en-US">
                <a:latin typeface="Calibri" panose="020F0502020204030204" charset="0"/>
                <a:cs typeface="Calibri" panose="020F0502020204030204" charset="0"/>
              </a:rPr>
              <a:t>Distribution of OtherPay</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OtherPay values are mostly low</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Only a small number receive high additional pay</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Contribution is less compared to Basepay</a:t>
            </a:r>
            <a:endParaRPr lang="en-IN" altLang="en-US">
              <a:latin typeface="Calibri" panose="020F0502020204030204" charset="0"/>
              <a:cs typeface="Calibri" panose="020F050202020403020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l"/>
            <a:r>
              <a:rPr lang="en-US" altLang="en-US" sz="4000" b="1">
                <a:latin typeface="Calibri" panose="020F0502020204030204" charset="0"/>
                <a:cs typeface="Calibri" panose="020F0502020204030204" charset="0"/>
              </a:rPr>
              <a:t>11. Top 10 Job Titles by Benefits</a:t>
            </a:r>
            <a:endParaRPr lang="en-US" altLang="en-US" sz="4000" b="1">
              <a:latin typeface="Calibri" panose="020F0502020204030204" charset="0"/>
              <a:cs typeface="Calibri" panose="020F0502020204030204" charset="0"/>
            </a:endParaRPr>
          </a:p>
        </p:txBody>
      </p:sp>
      <p:pic>
        <p:nvPicPr>
          <p:cNvPr id="4" name="Content Placeholder 3" descr="output 11"/>
          <p:cNvPicPr>
            <a:picLocks noChangeAspect="1"/>
          </p:cNvPicPr>
          <p:nvPr>
            <p:ph idx="1"/>
          </p:nvPr>
        </p:nvPicPr>
        <p:blipFill>
          <a:blip r:embed="rId1"/>
          <a:stretch>
            <a:fillRect/>
          </a:stretch>
        </p:blipFill>
        <p:spPr>
          <a:xfrm>
            <a:off x="863600" y="1035050"/>
            <a:ext cx="10465435" cy="502094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86485" y="424180"/>
            <a:ext cx="10495915" cy="582930"/>
          </a:xfrm>
        </p:spPr>
        <p:txBody>
          <a:bodyPr/>
          <a:p>
            <a:r>
              <a:rPr lang="en-IN" altLang="en-US" sz="4000">
                <a:latin typeface="Calibri" panose="020F0502020204030204" charset="0"/>
                <a:cs typeface="Calibri" panose="020F0502020204030204" charset="0"/>
              </a:rPr>
              <a:t>Key Insights:</a:t>
            </a:r>
            <a:endParaRPr lang="en-IN" altLang="en-US" sz="4000">
              <a:latin typeface="Calibri" panose="020F0502020204030204" charset="0"/>
              <a:cs typeface="Calibri" panose="020F0502020204030204" charset="0"/>
            </a:endParaRPr>
          </a:p>
        </p:txBody>
      </p:sp>
      <p:sp>
        <p:nvSpPr>
          <p:cNvPr id="3" name="Content Placeholder 2"/>
          <p:cNvSpPr>
            <a:spLocks noGrp="1"/>
          </p:cNvSpPr>
          <p:nvPr>
            <p:ph idx="1"/>
          </p:nvPr>
        </p:nvSpPr>
        <p:spPr>
          <a:xfrm>
            <a:off x="1086485" y="1357630"/>
            <a:ext cx="9378315" cy="4953000"/>
          </a:xfrm>
        </p:spPr>
        <p:txBody>
          <a:bodyPr/>
          <a:p>
            <a:pPr>
              <a:buFont typeface="Arial" panose="020B0604020202020204" pitchFamily="34" charset="0"/>
              <a:buChar char="•"/>
            </a:pPr>
            <a:r>
              <a:rPr lang="en-IN" altLang="en-US">
                <a:latin typeface="Calibri" panose="020F0502020204030204" charset="0"/>
                <a:cs typeface="Calibri" panose="020F0502020204030204" charset="0"/>
              </a:rPr>
              <a:t>Senior and leadershipp roles receive the highest benefits.</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Administrative and public safety roles dominate top benefit positions.</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Benefits increase with responsibility and position level.</a:t>
            </a:r>
            <a:endParaRPr lang="en-IN" altLang="en-US">
              <a:latin typeface="Calibri" panose="020F0502020204030204" charset="0"/>
              <a:cs typeface="Calibri" panose="020F050202020403020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4000" b="1">
                <a:latin typeface="Calibri" panose="020F0502020204030204" charset="0"/>
                <a:cs typeface="Calibri" panose="020F0502020204030204" charset="0"/>
              </a:rPr>
              <a:t>12. Average Salary Components Contribution</a:t>
            </a:r>
            <a:endParaRPr lang="en-US" altLang="en-US" sz="4000" b="1">
              <a:latin typeface="Calibri" panose="020F0502020204030204" charset="0"/>
              <a:cs typeface="Calibri" panose="020F0502020204030204" charset="0"/>
            </a:endParaRPr>
          </a:p>
        </p:txBody>
      </p:sp>
      <p:pic>
        <p:nvPicPr>
          <p:cNvPr id="8" name="Content Placeholder 7" descr="Screenshot 2025-12-18 114033"/>
          <p:cNvPicPr>
            <a:picLocks noChangeAspect="1"/>
          </p:cNvPicPr>
          <p:nvPr>
            <p:ph idx="1"/>
          </p:nvPr>
        </p:nvPicPr>
        <p:blipFill>
          <a:blip r:embed="rId1"/>
          <a:stretch>
            <a:fillRect/>
          </a:stretch>
        </p:blipFill>
        <p:spPr>
          <a:xfrm>
            <a:off x="1915160" y="1174750"/>
            <a:ext cx="8157210" cy="4953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a:xfrm>
            <a:off x="1005840" y="779780"/>
            <a:ext cx="10576560" cy="582930"/>
          </a:xfrm>
        </p:spPr>
        <p:txBody>
          <a:bodyPr/>
          <a:p>
            <a:r>
              <a:rPr lang="en-IN" altLang="en-US" sz="4000">
                <a:latin typeface="Calibri" panose="020F0502020204030204" charset="0"/>
                <a:cs typeface="Calibri" panose="020F0502020204030204" charset="0"/>
              </a:rPr>
              <a:t>Key Insights:</a:t>
            </a:r>
            <a:endParaRPr lang="en-IN" altLang="en-US" sz="4000">
              <a:latin typeface="Calibri" panose="020F0502020204030204" charset="0"/>
              <a:cs typeface="Calibri" panose="020F0502020204030204" charset="0"/>
            </a:endParaRPr>
          </a:p>
        </p:txBody>
      </p:sp>
      <p:sp>
        <p:nvSpPr>
          <p:cNvPr id="6" name="Content Placeholder 5"/>
          <p:cNvSpPr>
            <a:spLocks noGrp="1"/>
          </p:cNvSpPr>
          <p:nvPr>
            <p:ph idx="1"/>
          </p:nvPr>
        </p:nvSpPr>
        <p:spPr>
          <a:xfrm>
            <a:off x="1005840" y="1905000"/>
            <a:ext cx="10576560" cy="4953000"/>
          </a:xfrm>
        </p:spPr>
        <p:txBody>
          <a:bodyPr/>
          <a:p>
            <a:pPr>
              <a:buFont typeface="Arial" panose="020B0604020202020204" pitchFamily="34" charset="0"/>
              <a:buChar char="•"/>
            </a:pPr>
            <a:r>
              <a:rPr lang="en-IN" altLang="en-US">
                <a:latin typeface="Calibri" panose="020F0502020204030204" charset="0"/>
                <a:cs typeface="Calibri" panose="020F0502020204030204" charset="0"/>
              </a:rPr>
              <a:t>BasePay is the major contributor to total salary.</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OvertimePay contributes moderately.</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OtherPay has minimal impact on overall salary.</a:t>
            </a:r>
            <a:endParaRPr lang="en-IN" altLang="en-US">
              <a:latin typeface="Calibri" panose="020F0502020204030204" charset="0"/>
              <a:cs typeface="Calibri" panose="020F050202020403020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353060"/>
            <a:ext cx="10972800" cy="582613"/>
          </a:xfrm>
        </p:spPr>
        <p:txBody>
          <a:bodyPr/>
          <a:p>
            <a:pPr algn="ctr"/>
            <a:r>
              <a:rPr lang="en-US" altLang="en-US" sz="4000" b="1">
                <a:latin typeface="Calibri" panose="020F0502020204030204" charset="0"/>
                <a:cs typeface="Calibri" panose="020F0502020204030204" charset="0"/>
              </a:rPr>
              <a:t>13. Percentage of Employees With vs Without</a:t>
            </a:r>
            <a:r>
              <a:rPr lang="en-IN" altLang="en-US" sz="4000" b="1">
                <a:latin typeface="Calibri" panose="020F0502020204030204" charset="0"/>
                <a:cs typeface="Calibri" panose="020F0502020204030204" charset="0"/>
              </a:rPr>
              <a:t> </a:t>
            </a:r>
            <a:br>
              <a:rPr lang="en-IN" altLang="en-US" sz="4000" b="1">
                <a:latin typeface="Calibri" panose="020F0502020204030204" charset="0"/>
                <a:cs typeface="Calibri" panose="020F0502020204030204" charset="0"/>
              </a:rPr>
            </a:br>
            <a:r>
              <a:rPr lang="en-IN" altLang="en-US" sz="4000" b="1">
                <a:latin typeface="Calibri" panose="020F0502020204030204" charset="0"/>
                <a:cs typeface="Calibri" panose="020F0502020204030204" charset="0"/>
              </a:rPr>
              <a:t> </a:t>
            </a:r>
            <a:r>
              <a:rPr lang="en-US" altLang="en-US" sz="4000" b="1">
                <a:latin typeface="Calibri" panose="020F0502020204030204" charset="0"/>
                <a:cs typeface="Calibri" panose="020F0502020204030204" charset="0"/>
              </a:rPr>
              <a:t>Benefits</a:t>
            </a:r>
            <a:endParaRPr lang="en-US" altLang="en-US" sz="4000" b="1">
              <a:latin typeface="Calibri" panose="020F0502020204030204" charset="0"/>
              <a:cs typeface="Calibri" panose="020F0502020204030204" charset="0"/>
            </a:endParaRPr>
          </a:p>
        </p:txBody>
      </p:sp>
      <p:pic>
        <p:nvPicPr>
          <p:cNvPr id="7" name="Content Placeholder 6" descr="Screenshot 2025-12-18 114056"/>
          <p:cNvPicPr>
            <a:picLocks noChangeAspect="1"/>
          </p:cNvPicPr>
          <p:nvPr>
            <p:ph idx="1"/>
          </p:nvPr>
        </p:nvPicPr>
        <p:blipFill>
          <a:blip r:embed="rId1"/>
          <a:stretch>
            <a:fillRect/>
          </a:stretch>
        </p:blipFill>
        <p:spPr>
          <a:xfrm>
            <a:off x="3218180" y="1345565"/>
            <a:ext cx="5756275" cy="481774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a:xfrm>
            <a:off x="975360" y="718820"/>
            <a:ext cx="10404475" cy="582930"/>
          </a:xfrm>
        </p:spPr>
        <p:txBody>
          <a:bodyPr/>
          <a:p>
            <a:r>
              <a:rPr lang="en-IN" altLang="en-US" sz="4000">
                <a:latin typeface="Calibri" panose="020F0502020204030204" charset="0"/>
                <a:cs typeface="Calibri" panose="020F0502020204030204" charset="0"/>
              </a:rPr>
              <a:t>Key Insights:</a:t>
            </a:r>
            <a:endParaRPr lang="en-IN" altLang="en-US" sz="4000">
              <a:latin typeface="Calibri" panose="020F0502020204030204" charset="0"/>
              <a:cs typeface="Calibri" panose="020F0502020204030204" charset="0"/>
            </a:endParaRPr>
          </a:p>
        </p:txBody>
      </p:sp>
      <p:sp>
        <p:nvSpPr>
          <p:cNvPr id="6" name="Content Placeholder 5"/>
          <p:cNvSpPr>
            <a:spLocks noGrp="1"/>
          </p:cNvSpPr>
          <p:nvPr>
            <p:ph idx="1"/>
          </p:nvPr>
        </p:nvSpPr>
        <p:spPr>
          <a:xfrm>
            <a:off x="975360" y="1733550"/>
            <a:ext cx="9672320" cy="4953000"/>
          </a:xfrm>
        </p:spPr>
        <p:txBody>
          <a:bodyPr/>
          <a:p>
            <a:pPr>
              <a:buFont typeface="Arial" panose="020B0604020202020204" pitchFamily="34" charset="0"/>
              <a:buChar char="•"/>
            </a:pPr>
            <a:r>
              <a:rPr lang="en-IN" altLang="en-US">
                <a:latin typeface="Calibri" panose="020F0502020204030204" charset="0"/>
                <a:cs typeface="Calibri" panose="020F0502020204030204" charset="0"/>
              </a:rPr>
              <a:t>Most employees receive benefits.</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Very few employees fall under “Without Benefits”.</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Benefits are a standard part of compensation structure.</a:t>
            </a:r>
            <a:endParaRPr lang="en-IN" altLang="en-US">
              <a:latin typeface="Calibri" panose="020F0502020204030204" charset="0"/>
              <a:cs typeface="Calibri" panose="020F050202020403020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53770" y="515620"/>
            <a:ext cx="10628630" cy="582930"/>
          </a:xfrm>
        </p:spPr>
        <p:txBody>
          <a:bodyPr/>
          <a:p>
            <a:r>
              <a:rPr lang="en-IN" altLang="en-US" sz="4000">
                <a:latin typeface="Calibri" panose="020F0502020204030204" charset="0"/>
                <a:cs typeface="Calibri" panose="020F0502020204030204" charset="0"/>
              </a:rPr>
              <a:t>Model Building</a:t>
            </a:r>
            <a:endParaRPr lang="en-IN" altLang="en-US" sz="4000">
              <a:latin typeface="Calibri" panose="020F0502020204030204" charset="0"/>
              <a:cs typeface="Calibri" panose="020F0502020204030204" charset="0"/>
            </a:endParaRPr>
          </a:p>
        </p:txBody>
      </p:sp>
      <p:sp>
        <p:nvSpPr>
          <p:cNvPr id="3" name="Content Placeholder 2"/>
          <p:cNvSpPr>
            <a:spLocks noGrp="1"/>
          </p:cNvSpPr>
          <p:nvPr>
            <p:ph idx="1"/>
          </p:nvPr>
        </p:nvSpPr>
        <p:spPr>
          <a:xfrm>
            <a:off x="953770" y="1367790"/>
            <a:ext cx="10628630" cy="4953000"/>
          </a:xfrm>
        </p:spPr>
        <p:txBody>
          <a:bodyPr/>
          <a:p>
            <a:pPr>
              <a:buFont typeface="Arial" panose="020B0604020202020204" pitchFamily="34" charset="0"/>
              <a:buChar char="•"/>
            </a:pPr>
            <a:r>
              <a:rPr lang="en-IN" altLang="en-US">
                <a:latin typeface="Calibri" panose="020F0502020204030204" charset="0"/>
                <a:cs typeface="Calibri" panose="020F0502020204030204" charset="0"/>
              </a:rPr>
              <a:t>Selected relevant salary-related features for analysis prediction.</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Split the dataset into training and testing sets.</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Applied a regression-based approach to model salary relationships.</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Trained the model using the training dataset.</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Prepared the model for performance evaluation.</a:t>
            </a:r>
            <a:endParaRPr lang="en-IN" altLang="en-US">
              <a:latin typeface="Calibri" panose="020F0502020204030204" charset="0"/>
              <a:cs typeface="Calibri" panose="020F050202020403020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34085" y="515620"/>
            <a:ext cx="10648315" cy="582930"/>
          </a:xfrm>
        </p:spPr>
        <p:txBody>
          <a:bodyPr/>
          <a:p>
            <a:r>
              <a:rPr lang="en-IN" altLang="en-US" sz="4000">
                <a:latin typeface="Calibri" panose="020F0502020204030204" charset="0"/>
                <a:cs typeface="Calibri" panose="020F0502020204030204" charset="0"/>
              </a:rPr>
              <a:t>Model Evaluation</a:t>
            </a:r>
            <a:endParaRPr lang="en-IN" altLang="en-US" sz="4000">
              <a:latin typeface="Calibri" panose="020F0502020204030204" charset="0"/>
              <a:cs typeface="Calibri" panose="020F0502020204030204" charset="0"/>
            </a:endParaRPr>
          </a:p>
        </p:txBody>
      </p:sp>
      <p:sp>
        <p:nvSpPr>
          <p:cNvPr id="3" name="Content Placeholder 2"/>
          <p:cNvSpPr>
            <a:spLocks noGrp="1"/>
          </p:cNvSpPr>
          <p:nvPr>
            <p:ph idx="1"/>
          </p:nvPr>
        </p:nvSpPr>
        <p:spPr>
          <a:xfrm>
            <a:off x="934085" y="1347470"/>
            <a:ext cx="10648315" cy="4953000"/>
          </a:xfrm>
        </p:spPr>
        <p:txBody>
          <a:bodyPr/>
          <a:p>
            <a:pPr>
              <a:buFont typeface="Arial" panose="020B0604020202020204" pitchFamily="34" charset="0"/>
              <a:buChar char="•"/>
            </a:pPr>
            <a:r>
              <a:rPr lang="en-IN" altLang="en-US">
                <a:latin typeface="Calibri" panose="020F0502020204030204" charset="0"/>
                <a:cs typeface="Calibri" panose="020F0502020204030204" charset="0"/>
              </a:rPr>
              <a:t>Evaluated the performance of the regression model using standard evaluation metrics.</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measured prediction accuracy by comparing actual salaries with predicted salaries.</a:t>
            </a:r>
            <a:endParaRPr lang="en-IN"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Used metrics such as Mean Absolute Error (MAE), Mean Squeared Error (MSE), and </a:t>
            </a:r>
            <a:r>
              <a:rPr lang="en-US" altLang="en-US">
                <a:latin typeface="Calibri" panose="020F0502020204030204" charset="0"/>
                <a:cs typeface="Calibri" panose="020F0502020204030204" charset="0"/>
              </a:rPr>
              <a:t>R² score.</a:t>
            </a:r>
            <a:endParaRPr lang="en-US" altLang="en-US">
              <a:latin typeface="Calibri" panose="020F0502020204030204" charset="0"/>
              <a:cs typeface="Calibri" panose="020F0502020204030204" charset="0"/>
            </a:endParaRPr>
          </a:p>
          <a:p>
            <a:pPr>
              <a:buFont typeface="Arial" panose="020B0604020202020204" pitchFamily="34" charset="0"/>
              <a:buChar char="•"/>
            </a:pPr>
            <a:r>
              <a:rPr lang="en-IN" altLang="en-US">
                <a:latin typeface="Calibri" panose="020F0502020204030204" charset="0"/>
                <a:cs typeface="Calibri" panose="020F0502020204030204" charset="0"/>
              </a:rPr>
              <a:t>This step helps in understanding how well the model fits the data and its reliability.</a:t>
            </a:r>
            <a:endParaRPr lang="en-IN" altLang="en-US">
              <a:latin typeface="Calibri" panose="020F0502020204030204" charset="0"/>
              <a:cs typeface="Calibri" panose="020F050202020403020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83920" y="566420"/>
            <a:ext cx="10698480" cy="582930"/>
          </a:xfrm>
        </p:spPr>
        <p:txBody>
          <a:bodyPr/>
          <a:p>
            <a:r>
              <a:rPr lang="en-IN" altLang="en-US" sz="4000">
                <a:latin typeface="Calibri" panose="020F0502020204030204" charset="0"/>
                <a:cs typeface="Calibri" panose="020F0502020204030204" charset="0"/>
              </a:rPr>
              <a:t>Final Insights:</a:t>
            </a:r>
            <a:endParaRPr lang="en-IN" altLang="en-US" sz="4000">
              <a:latin typeface="Calibri" panose="020F0502020204030204" charset="0"/>
              <a:cs typeface="Calibri" panose="020F0502020204030204" charset="0"/>
            </a:endParaRPr>
          </a:p>
        </p:txBody>
      </p:sp>
      <p:sp>
        <p:nvSpPr>
          <p:cNvPr id="3" name="Content Placeholder 2"/>
          <p:cNvSpPr>
            <a:spLocks noGrp="1"/>
          </p:cNvSpPr>
          <p:nvPr>
            <p:ph idx="1"/>
          </p:nvPr>
        </p:nvSpPr>
        <p:spPr>
          <a:xfrm>
            <a:off x="884555" y="1499870"/>
            <a:ext cx="10697845" cy="4953000"/>
          </a:xfrm>
        </p:spPr>
        <p:txBody>
          <a:bodyPr/>
          <a:p>
            <a:pPr>
              <a:buFont typeface="Arial" panose="020B0604020202020204" pitchFamily="34" charset="0"/>
              <a:buChar char="•"/>
            </a:pPr>
            <a:r>
              <a:rPr lang="en-US" altLang="en-US">
                <a:latin typeface="Calibri" panose="020F0502020204030204" charset="0"/>
                <a:cs typeface="Calibri" panose="020F0502020204030204" charset="0"/>
              </a:rPr>
              <a:t>BasePay is the most influential component of total salary.</a:t>
            </a:r>
            <a:endParaRPr lang="en-US" altLang="en-US">
              <a:latin typeface="Calibri" panose="020F0502020204030204" charset="0"/>
              <a:cs typeface="Calibri" panose="020F0502020204030204" charset="0"/>
            </a:endParaRPr>
          </a:p>
          <a:p>
            <a:pPr>
              <a:buFont typeface="Arial" panose="020B0604020202020204" pitchFamily="34" charset="0"/>
              <a:buChar char="•"/>
            </a:pPr>
            <a:r>
              <a:rPr lang="en-US" altLang="en-US">
                <a:latin typeface="Calibri" panose="020F0502020204030204" charset="0"/>
                <a:cs typeface="Calibri" panose="020F0502020204030204" charset="0"/>
              </a:rPr>
              <a:t>Job title plays a significant role in salary variation.</a:t>
            </a:r>
            <a:endParaRPr lang="en-US" altLang="en-US">
              <a:latin typeface="Calibri" panose="020F0502020204030204" charset="0"/>
              <a:cs typeface="Calibri" panose="020F0502020204030204" charset="0"/>
            </a:endParaRPr>
          </a:p>
          <a:p>
            <a:pPr>
              <a:buFont typeface="Arial" panose="020B0604020202020204" pitchFamily="34" charset="0"/>
              <a:buChar char="•"/>
            </a:pPr>
            <a:r>
              <a:rPr lang="en-US" altLang="en-US">
                <a:latin typeface="Calibri" panose="020F0502020204030204" charset="0"/>
                <a:cs typeface="Calibri" panose="020F0502020204030204" charset="0"/>
              </a:rPr>
              <a:t>Benefits are provided to the majority of employees.</a:t>
            </a:r>
            <a:endParaRPr lang="en-US" altLang="en-US">
              <a:latin typeface="Calibri" panose="020F0502020204030204" charset="0"/>
              <a:cs typeface="Calibri" panose="020F0502020204030204" charset="0"/>
            </a:endParaRPr>
          </a:p>
          <a:p>
            <a:pPr>
              <a:buFont typeface="Arial" panose="020B0604020202020204" pitchFamily="34" charset="0"/>
              <a:buChar char="•"/>
            </a:pPr>
            <a:r>
              <a:rPr lang="en-US" altLang="en-US">
                <a:latin typeface="Calibri" panose="020F0502020204030204" charset="0"/>
                <a:cs typeface="Calibri" panose="020F0502020204030204" charset="0"/>
              </a:rPr>
              <a:t>OvertimePay and OtherPay vary across different roles and departments.</a:t>
            </a:r>
            <a:endParaRPr lang="en-US" altLang="en-US">
              <a:latin typeface="Calibri" panose="020F0502020204030204" charset="0"/>
              <a:cs typeface="Calibri" panose="020F0502020204030204" charset="0"/>
            </a:endParaRPr>
          </a:p>
          <a:p>
            <a:pPr>
              <a:buFont typeface="Arial" panose="020B0604020202020204" pitchFamily="34" charset="0"/>
              <a:buChar char="•"/>
            </a:pPr>
            <a:r>
              <a:rPr lang="en-US" altLang="en-US">
                <a:latin typeface="Calibri" panose="020F0502020204030204" charset="0"/>
                <a:cs typeface="Calibri" panose="020F0502020204030204" charset="0"/>
              </a:rPr>
              <a:t>The analysis reveals clear salary patterns within the dataset.</a:t>
            </a:r>
            <a:endParaRPr lang="en-US" altLang="en-US">
              <a:latin typeface="Calibri" panose="020F0502020204030204" charset="0"/>
              <a:cs typeface="Calibri" panose="020F050202020403020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44880" y="556260"/>
            <a:ext cx="10972800" cy="582613"/>
          </a:xfrm>
        </p:spPr>
        <p:txBody>
          <a:bodyPr/>
          <a:p>
            <a:r>
              <a:rPr lang="en-IN" altLang="en-US" sz="4000">
                <a:latin typeface="Calibri" panose="020F0502020204030204" charset="0"/>
                <a:cs typeface="Calibri" panose="020F0502020204030204" charset="0"/>
              </a:rPr>
              <a:t>Conclusion</a:t>
            </a:r>
            <a:endParaRPr lang="en-IN" altLang="en-US" sz="4000">
              <a:latin typeface="Calibri" panose="020F0502020204030204" charset="0"/>
              <a:cs typeface="Calibri" panose="020F0502020204030204" charset="0"/>
            </a:endParaRPr>
          </a:p>
        </p:txBody>
      </p:sp>
      <p:sp>
        <p:nvSpPr>
          <p:cNvPr id="3" name="Content Placeholder 2"/>
          <p:cNvSpPr>
            <a:spLocks noGrp="1"/>
          </p:cNvSpPr>
          <p:nvPr>
            <p:ph idx="1"/>
          </p:nvPr>
        </p:nvSpPr>
        <p:spPr>
          <a:xfrm>
            <a:off x="944880" y="1499870"/>
            <a:ext cx="10637520" cy="4953000"/>
          </a:xfrm>
        </p:spPr>
        <p:txBody>
          <a:bodyPr/>
          <a:p>
            <a:pPr>
              <a:buFont typeface="Arial" panose="020B0604020202020204" pitchFamily="34" charset="0"/>
              <a:buChar char="•"/>
            </a:pPr>
            <a:r>
              <a:rPr lang="en-US" altLang="en-US">
                <a:latin typeface="Calibri" panose="020F0502020204030204" charset="0"/>
                <a:cs typeface="Calibri" panose="020F0502020204030204" charset="0"/>
              </a:rPr>
              <a:t>This project analyzed San Francisco employee salary data using exploratory data analysis and basic modeling techniques.</a:t>
            </a:r>
            <a:endParaRPr lang="en-US" altLang="en-US">
              <a:latin typeface="Calibri" panose="020F0502020204030204" charset="0"/>
              <a:cs typeface="Calibri" panose="020F0502020204030204" charset="0"/>
            </a:endParaRPr>
          </a:p>
          <a:p>
            <a:pPr>
              <a:buFont typeface="Arial" panose="020B0604020202020204" pitchFamily="34" charset="0"/>
              <a:buChar char="•"/>
            </a:pPr>
            <a:r>
              <a:rPr lang="en-US" altLang="en-US">
                <a:latin typeface="Calibri" panose="020F0502020204030204" charset="0"/>
                <a:cs typeface="Calibri" panose="020F0502020204030204" charset="0"/>
              </a:rPr>
              <a:t>Key salary components and compensation trends were identified.</a:t>
            </a:r>
            <a:endParaRPr lang="en-US" altLang="en-US">
              <a:latin typeface="Calibri" panose="020F0502020204030204" charset="0"/>
              <a:cs typeface="Calibri" panose="020F0502020204030204" charset="0"/>
            </a:endParaRPr>
          </a:p>
          <a:p>
            <a:pPr>
              <a:buFont typeface="Arial" panose="020B0604020202020204" pitchFamily="34" charset="0"/>
              <a:buChar char="•"/>
            </a:pPr>
            <a:r>
              <a:rPr lang="en-US" altLang="en-US">
                <a:latin typeface="Calibri" panose="020F0502020204030204" charset="0"/>
                <a:cs typeface="Calibri" panose="020F0502020204030204" charset="0"/>
              </a:rPr>
              <a:t>The insights gained can help in understanding salary structures and workforce compensation patterns.</a:t>
            </a:r>
            <a:endParaRPr lang="en-US" altLang="en-US">
              <a:latin typeface="Calibri" panose="020F0502020204030204" charset="0"/>
              <a:cs typeface="Calibri" panose="020F050202020403020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680720" y="2364740"/>
            <a:ext cx="10972800" cy="582613"/>
          </a:xfrm>
        </p:spPr>
        <p:txBody>
          <a:bodyPr/>
          <a:p>
            <a:pPr algn="ctr"/>
            <a:r>
              <a:rPr lang="en-IN" altLang="en-US" sz="8800">
                <a:latin typeface="Arial Rounded MT Bold" panose="020F0704030504030204" charset="0"/>
                <a:cs typeface="Arial Rounded MT Bold" panose="020F0704030504030204" charset="0"/>
              </a:rPr>
              <a:t>Thank You</a:t>
            </a:r>
            <a:endParaRPr lang="en-IN" altLang="en-US" sz="8800">
              <a:latin typeface="Arial Rounded MT Bold" panose="020F0704030504030204" charset="0"/>
              <a:cs typeface="Arial Rounded MT Bold" panose="020F0704030504030204" charset="0"/>
            </a:endParaRPr>
          </a:p>
        </p:txBody>
      </p:sp>
    </p:spTree>
  </p:cSld>
  <p:clrMapOvr>
    <a:masterClrMapping/>
  </p:clrMapOvr>
</p:sld>
</file>

<file path=ppt/theme/theme1.xml><?xml version="1.0" encoding="utf-8"?>
<a:theme xmlns:a="http://schemas.openxmlformats.org/drawingml/2006/main" name="Orange Waves">
  <a:themeElements>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fontScheme name="Orang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Orang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rang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rang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rang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rang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rang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ang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rang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rang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rang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rang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rang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7879</Words>
  <Application>WPS Presentation</Application>
  <PresentationFormat>Widescreen</PresentationFormat>
  <Paragraphs>231</Paragraphs>
  <Slides>39</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39</vt:i4>
      </vt:variant>
    </vt:vector>
  </HeadingPairs>
  <TitlesOfParts>
    <vt:vector size="48" baseType="lpstr">
      <vt:lpstr>Arial</vt:lpstr>
      <vt:lpstr>SimSun</vt:lpstr>
      <vt:lpstr>Wingdings</vt:lpstr>
      <vt:lpstr>Calibri</vt:lpstr>
      <vt:lpstr>Wingdings</vt:lpstr>
      <vt:lpstr>Microsoft YaHei</vt:lpstr>
      <vt:lpstr>Arial Unicode MS</vt:lpstr>
      <vt:lpstr>Arial Rounded MT Bold</vt:lpstr>
      <vt:lpstr>Orange Waves</vt:lpstr>
      <vt:lpstr>Salaries for San Francisco Employees</vt:lpstr>
      <vt:lpstr>Introduction</vt:lpstr>
      <vt:lpstr>Objective</vt:lpstr>
      <vt:lpstr>Tools Used</vt:lpstr>
      <vt:lpstr>Dataset Overview</vt:lpstr>
      <vt:lpstr>Key columns</vt:lpstr>
      <vt:lpstr>Data Preprocessing / Data Cleaning</vt:lpstr>
      <vt:lpstr>Data Profiling</vt:lpstr>
      <vt:lpstr>Exploratory Data Analysis</vt:lpstr>
      <vt:lpstr>1. Distribution of Total Pay Benefits</vt:lpstr>
      <vt:lpstr>Key Insights:</vt:lpstr>
      <vt:lpstr>2. Top 10 Highest Paying Job Titles</vt:lpstr>
      <vt:lpstr>Key Insights:</vt:lpstr>
      <vt:lpstr>3. Salary Trend Over the Years</vt:lpstr>
      <vt:lpstr>Key Insights:</vt:lpstr>
      <vt:lpstr>4. Average Total Pay Over the Years</vt:lpstr>
      <vt:lpstr>Key Insights:</vt:lpstr>
      <vt:lpstr>5. Salary Range by Job Title</vt:lpstr>
      <vt:lpstr>Key Insights:</vt:lpstr>
      <vt:lpstr>6. Base Pay vs Total Compensation</vt:lpstr>
      <vt:lpstr>7. Employees Receiving Overtime Pay</vt:lpstr>
      <vt:lpstr>8. Total Salary Expenditure by Year</vt:lpstr>
      <vt:lpstr>Key Insights:</vt:lpstr>
      <vt:lpstr>9. Benefits Distribution</vt:lpstr>
      <vt:lpstr>Key Insights:</vt:lpstr>
      <vt:lpstr>10. Distribution of BasePay, OvertimePay, and  OtherPay</vt:lpstr>
      <vt:lpstr>Key Insights:</vt:lpstr>
      <vt:lpstr>Key Insights:</vt:lpstr>
      <vt:lpstr>11. Top 10 Job Titles by Benefits</vt:lpstr>
      <vt:lpstr>Key Insights:</vt:lpstr>
      <vt:lpstr>12. Average Salary Components Contribution</vt:lpstr>
      <vt:lpstr>Key Insights:</vt:lpstr>
      <vt:lpstr>13. Percentage of Employees With vs Without   Benefits</vt:lpstr>
      <vt:lpstr>Key Insights:</vt:lpstr>
      <vt:lpstr>Model Building</vt:lpstr>
      <vt:lpstr>Model Evaluation</vt:lpstr>
      <vt:lpstr>Final Insights:</vt:lpstr>
      <vt:lpstr>Conclusion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sathv</dc:creator>
  <cp:lastModifiedBy>Sathvika Chary</cp:lastModifiedBy>
  <cp:revision>5</cp:revision>
  <dcterms:created xsi:type="dcterms:W3CDTF">2025-07-23T00:59:00Z</dcterms:created>
  <dcterms:modified xsi:type="dcterms:W3CDTF">2025-12-18T14:40:13Z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AA4EB1FB5D2F431AA383DB800D3083C0_13</vt:lpwstr>
  </property>
  <property fmtid="{D5CDD505-2E9C-101B-9397-08002B2CF9AE}" pid="3" name="KSOProductBuildVer">
    <vt:lpwstr>1033-12.2.0.23155</vt:lpwstr>
  </property>
</Properties>
</file>